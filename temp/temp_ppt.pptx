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6"/>
  </p:notesMasterIdLst>
  <p:sldIdLst>
    <p:sldId id="664" r:id="rId3"/>
    <p:sldId id="851" r:id="rId4"/>
    <p:sldId id="85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A1F85-65FC-4B8C-B99F-3BF2AA2484A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CED95-0C81-426B-84A4-044299F97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34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D0AB8-341E-46D0-B384-DEE42B9FE01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189575-60E4-4F52-93C8-0860ECAA057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rgbClr val="C00000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189575-60E4-4F52-93C8-0860ECAA057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38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67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89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69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09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89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09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19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15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69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155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518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29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008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53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444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0843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538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31791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94974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16872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90957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70194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2003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22092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310918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53301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329054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66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5"/>
          <p:cNvSpPr/>
          <p:nvPr/>
        </p:nvSpPr>
        <p:spPr>
          <a:xfrm>
            <a:off x="331663" y="127068"/>
            <a:ext cx="4849937" cy="493944"/>
          </a:xfrm>
          <a:prstGeom prst="rect">
            <a:avLst/>
          </a:prstGeom>
          <a:solidFill>
            <a:srgbClr val="2F5597"/>
          </a:solidFill>
          <a:ln w="12700" cap="flat">
            <a:solidFill>
              <a:srgbClr val="2F5597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矩形 7"/>
          <p:cNvSpPr/>
          <p:nvPr/>
        </p:nvSpPr>
        <p:spPr>
          <a:xfrm>
            <a:off x="-5228" y="127068"/>
            <a:ext cx="292359" cy="49394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 flipV="1">
            <a:off x="12058033" y="158221"/>
            <a:ext cx="133967" cy="43163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1" name="Picture 2" descr="I:\w\杭电透明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110" y="128235"/>
            <a:ext cx="1886428" cy="49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923209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20" Type="http://schemas.openxmlformats.org/officeDocument/2006/relationships/image" Target="../media/image4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C2FAE9-0D02-4E07-B459-0E972E0ADB4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ABCAB-8A24-4155-8179-00D5B34EB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5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5BAC5-00BE-4DA7-BDBC-CDFCB5795F9D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E07FF-818F-4025-8501-B3A0CC7EA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15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9.pn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Relationship Id="rId9" Type="http://schemas.openxmlformats.org/officeDocument/2006/relationships/image" Target="../media/image1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4" y="1459085"/>
            <a:ext cx="12192004" cy="3939830"/>
            <a:chOff x="-4" y="1748100"/>
            <a:chExt cx="12192004" cy="3939830"/>
          </a:xfrm>
        </p:grpSpPr>
        <p:grpSp>
          <p:nvGrpSpPr>
            <p:cNvPr id="6" name="组合 5"/>
            <p:cNvGrpSpPr/>
            <p:nvPr/>
          </p:nvGrpSpPr>
          <p:grpSpPr>
            <a:xfrm>
              <a:off x="-4" y="1748100"/>
              <a:ext cx="12192004" cy="3939830"/>
              <a:chOff x="-4" y="1748100"/>
              <a:chExt cx="12192004" cy="3939830"/>
            </a:xfrm>
          </p:grpSpPr>
          <p:sp>
            <p:nvSpPr>
              <p:cNvPr id="37" name="矩形 35"/>
              <p:cNvSpPr/>
              <p:nvPr/>
            </p:nvSpPr>
            <p:spPr>
              <a:xfrm flipH="1" flipV="1">
                <a:off x="6096002" y="5208415"/>
                <a:ext cx="6095998" cy="479515"/>
              </a:xfrm>
              <a:custGeom>
                <a:avLst/>
                <a:gdLst>
                  <a:gd name="connsiteX0" fmla="*/ 0 w 6095998"/>
                  <a:gd name="connsiteY0" fmla="*/ 0 h 479515"/>
                  <a:gd name="connsiteX1" fmla="*/ 6095998 w 6095998"/>
                  <a:gd name="connsiteY1" fmla="*/ 0 h 479515"/>
                  <a:gd name="connsiteX2" fmla="*/ 6095998 w 6095998"/>
                  <a:gd name="connsiteY2" fmla="*/ 479515 h 479515"/>
                  <a:gd name="connsiteX3" fmla="*/ 0 w 6095998"/>
                  <a:gd name="connsiteY3" fmla="*/ 479515 h 479515"/>
                  <a:gd name="connsiteX4" fmla="*/ 0 w 6095998"/>
                  <a:gd name="connsiteY4" fmla="*/ 0 h 479515"/>
                  <a:gd name="connsiteX0-1" fmla="*/ 0 w 6095998"/>
                  <a:gd name="connsiteY0-2" fmla="*/ 0 h 479515"/>
                  <a:gd name="connsiteX1-3" fmla="*/ 5333998 w 6095998"/>
                  <a:gd name="connsiteY1-4" fmla="*/ 0 h 479515"/>
                  <a:gd name="connsiteX2-5" fmla="*/ 6095998 w 6095998"/>
                  <a:gd name="connsiteY2-6" fmla="*/ 479515 h 479515"/>
                  <a:gd name="connsiteX3-7" fmla="*/ 0 w 6095998"/>
                  <a:gd name="connsiteY3-8" fmla="*/ 479515 h 479515"/>
                  <a:gd name="connsiteX4-9" fmla="*/ 0 w 6095998"/>
                  <a:gd name="connsiteY4-10" fmla="*/ 0 h 47951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095998" h="479515">
                    <a:moveTo>
                      <a:pt x="0" y="0"/>
                    </a:moveTo>
                    <a:lnTo>
                      <a:pt x="5333998" y="0"/>
                    </a:lnTo>
                    <a:lnTo>
                      <a:pt x="6095998" y="479515"/>
                    </a:lnTo>
                    <a:lnTo>
                      <a:pt x="0" y="4795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0" y="1748100"/>
                <a:ext cx="6095998" cy="479515"/>
              </a:xfrm>
              <a:custGeom>
                <a:avLst/>
                <a:gdLst>
                  <a:gd name="connsiteX0" fmla="*/ 0 w 6095998"/>
                  <a:gd name="connsiteY0" fmla="*/ 0 h 479515"/>
                  <a:gd name="connsiteX1" fmla="*/ 6095998 w 6095998"/>
                  <a:gd name="connsiteY1" fmla="*/ 0 h 479515"/>
                  <a:gd name="connsiteX2" fmla="*/ 6095998 w 6095998"/>
                  <a:gd name="connsiteY2" fmla="*/ 479515 h 479515"/>
                  <a:gd name="connsiteX3" fmla="*/ 0 w 6095998"/>
                  <a:gd name="connsiteY3" fmla="*/ 479515 h 479515"/>
                  <a:gd name="connsiteX4" fmla="*/ 0 w 6095998"/>
                  <a:gd name="connsiteY4" fmla="*/ 0 h 479515"/>
                  <a:gd name="connsiteX0-1" fmla="*/ 0 w 6095998"/>
                  <a:gd name="connsiteY0-2" fmla="*/ 0 h 479515"/>
                  <a:gd name="connsiteX1-3" fmla="*/ 5333998 w 6095998"/>
                  <a:gd name="connsiteY1-4" fmla="*/ 0 h 479515"/>
                  <a:gd name="connsiteX2-5" fmla="*/ 6095998 w 6095998"/>
                  <a:gd name="connsiteY2-6" fmla="*/ 479515 h 479515"/>
                  <a:gd name="connsiteX3-7" fmla="*/ 0 w 6095998"/>
                  <a:gd name="connsiteY3-8" fmla="*/ 479515 h 479515"/>
                  <a:gd name="connsiteX4-9" fmla="*/ 0 w 6095998"/>
                  <a:gd name="connsiteY4-10" fmla="*/ 0 h 47951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095998" h="479515">
                    <a:moveTo>
                      <a:pt x="0" y="0"/>
                    </a:moveTo>
                    <a:lnTo>
                      <a:pt x="5333998" y="0"/>
                    </a:lnTo>
                    <a:lnTo>
                      <a:pt x="6095998" y="479515"/>
                    </a:lnTo>
                    <a:lnTo>
                      <a:pt x="0" y="4795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-4" y="2019230"/>
                <a:ext cx="12192000" cy="323498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65875" y="2852220"/>
              <a:ext cx="11592773" cy="1731591"/>
              <a:chOff x="465875" y="2484487"/>
              <a:chExt cx="11592773" cy="1731591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2483852" y="2714532"/>
                <a:ext cx="95747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7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Bold" panose="020B0800000000000000" pitchFamily="34" charset="-122"/>
                    <a:ea typeface="思源黑体 Bold" panose="020B0800000000000000" pitchFamily="34" charset="-122"/>
                    <a:cs typeface="+mn-cs"/>
                  </a:rPr>
                  <a:t>深度学习</a:t>
                </a:r>
                <a:r>
                  <a:rPr kumimoji="0" lang="en-US" altLang="zh-CN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Bold" panose="020B0800000000000000" pitchFamily="34" charset="-122"/>
                    <a:ea typeface="思源黑体 Bold" panose="020B0800000000000000" pitchFamily="34" charset="-122"/>
                    <a:cs typeface="+mn-cs"/>
                  </a:rPr>
                  <a:t>—</a:t>
                </a: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Bold" panose="020B0800000000000000" pitchFamily="34" charset="-122"/>
                    <a:ea typeface="思源黑体 Bold" panose="020B0800000000000000" pitchFamily="34" charset="-122"/>
                    <a:cs typeface="+mn-cs"/>
                  </a:rPr>
                  <a:t>初识神经网络</a:t>
                </a:r>
                <a:endParaRPr kumimoji="0" lang="zh-CN" altLang="en-US" sz="7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Bold" panose="020B0800000000000000" pitchFamily="34" charset="-122"/>
                  <a:ea typeface="思源黑体 Bold" panose="020B0800000000000000" pitchFamily="34" charset="-122"/>
                  <a:cs typeface="+mn-cs"/>
                </a:endParaRPr>
              </a:p>
            </p:txBody>
          </p:sp>
          <p:cxnSp>
            <p:nvCxnSpPr>
              <p:cNvPr id="35" name="直接连接符 34"/>
              <p:cNvCxnSpPr/>
              <p:nvPr/>
            </p:nvCxnSpPr>
            <p:spPr>
              <a:xfrm>
                <a:off x="2353384" y="2484487"/>
                <a:ext cx="0" cy="1731591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5228" y="127068"/>
            <a:ext cx="5186828" cy="493944"/>
            <a:chOff x="-5228" y="142062"/>
            <a:chExt cx="5186828" cy="493944"/>
          </a:xfrm>
        </p:grpSpPr>
        <p:sp>
          <p:nvSpPr>
            <p:cNvPr id="10" name="矩形 25"/>
            <p:cNvSpPr/>
            <p:nvPr/>
          </p:nvSpPr>
          <p:spPr>
            <a:xfrm>
              <a:off x="331663" y="142062"/>
              <a:ext cx="4849937" cy="493944"/>
            </a:xfrm>
            <a:prstGeom prst="rect">
              <a:avLst/>
            </a:prstGeom>
            <a:solidFill>
              <a:srgbClr val="2F5597"/>
            </a:solidFill>
            <a:ln w="12700" cap="flat">
              <a:solidFill>
                <a:srgbClr val="2F559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-5228" y="142062"/>
              <a:ext cx="292359" cy="493944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389" tIns="33694" rIns="67389" bIns="33694" rtlCol="0" anchor="ctr"/>
            <a:lstStyle/>
            <a:p>
              <a:pPr marL="0" marR="0" lvl="0" indent="0" algn="ctr" defTabSz="673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4E639C"/>
                </a:solidFill>
                <a:effectLst/>
                <a:uLnTx/>
                <a:uFillTx/>
                <a:latin typeface="等线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115" y="173591"/>
              <a:ext cx="4694526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6381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微软雅黑" panose="020B0503020204020204" pitchFamily="34" charset="-122"/>
                  <a:cs typeface="+mn-cs"/>
                  <a:sym typeface="Arial" panose="020B0604020202090204" pitchFamily="34" charset="0"/>
                </a:rPr>
                <a:t>什么是深度学习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微软雅黑" panose="020B0503020204020204" pitchFamily="34" charset="-122"/>
                <a:cs typeface="+mn-cs"/>
                <a:sym typeface="Arial" panose="020B0604020202090204" pitchFamily="34" charset="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 flipV="1">
            <a:off x="12058033" y="158221"/>
            <a:ext cx="133967" cy="43163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marL="0" marR="0" lvl="0" indent="0" algn="ctr" defTabSz="673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4E639C"/>
              </a:solidFill>
              <a:effectLst/>
              <a:uLnTx/>
              <a:uFillTx/>
              <a:latin typeface="等线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98889" y="645544"/>
            <a:ext cx="8795008" cy="3094008"/>
            <a:chOff x="598889" y="586169"/>
            <a:chExt cx="8795008" cy="3094008"/>
          </a:xfrm>
        </p:grpSpPr>
        <p:sp>
          <p:nvSpPr>
            <p:cNvPr id="2" name="文本框 1"/>
            <p:cNvSpPr txBox="1"/>
            <p:nvPr/>
          </p:nvSpPr>
          <p:spPr>
            <a:xfrm>
              <a:off x="1094130" y="1727565"/>
              <a:ext cx="927019" cy="374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N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×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N</a:t>
              </a: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598889" y="1617505"/>
              <a:ext cx="1953833" cy="2062672"/>
            </a:xfrm>
            <a:prstGeom prst="roundRect">
              <a:avLst/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277939" y="2261358"/>
              <a:ext cx="1254412" cy="11993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花萼长度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花萼宽度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花瓣长度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花瓣宽度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928229" y="1617505"/>
              <a:ext cx="1953832" cy="2062672"/>
            </a:xfrm>
            <a:prstGeom prst="roundRect">
              <a:avLst/>
            </a:prstGeom>
            <a:noFill/>
            <a:ln w="15875"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3206196" y="1701352"/>
                  <a:ext cx="1397898" cy="39315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(ƒ</m:t>
                        </m:r>
                        <m:r>
                          <a:rPr kumimoji="0" lang="en-US" altLang="zh-CN" sz="20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1 </m:t>
                        </m:r>
                        <m:r>
                          <a:rPr kumimoji="0" lang="en-US" alt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,ƒ</m:t>
                        </m:r>
                        <m:r>
                          <a:rPr kumimoji="0" lang="en-US" altLang="zh-CN" sz="20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2 </m:t>
                        </m:r>
                        <m:r>
                          <a:rPr kumimoji="0" lang="en-US" alt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…</m:t>
                        </m:r>
                        <m:r>
                          <a:rPr kumimoji="0" lang="en-US" altLang="en-US" sz="20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ƒ</m:t>
                        </m:r>
                        <m:r>
                          <a:rPr kumimoji="0" lang="en-US" altLang="zh-CN" sz="2000" b="0" i="1" u="none" strike="noStrike" kern="1200" cap="none" spc="0" normalizeH="0" baseline="-25000" noProof="0" dirty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𝑘</m:t>
                        </m:r>
                        <m:r>
                          <a:rPr kumimoji="0" lang="en-US" alt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)</m:t>
                        </m:r>
                        <m:r>
                          <a:rPr kumimoji="0" lang="en-US" altLang="zh-CN" sz="20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kumimoji="0" lang="en-US" altLang="zh-CN" sz="2000" b="0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6196" y="1701352"/>
                  <a:ext cx="1397898" cy="39315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右箭头 12"/>
            <p:cNvSpPr/>
            <p:nvPr/>
          </p:nvSpPr>
          <p:spPr>
            <a:xfrm>
              <a:off x="2454466" y="2402732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5257568" y="1609411"/>
              <a:ext cx="1953832" cy="2060050"/>
            </a:xfrm>
            <a:prstGeom prst="roundRect">
              <a:avLst/>
            </a:prstGeom>
            <a:noFill/>
            <a:ln w="15875"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7" name="右箭头 16"/>
            <p:cNvSpPr/>
            <p:nvPr/>
          </p:nvSpPr>
          <p:spPr>
            <a:xfrm>
              <a:off x="4785325" y="2402732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581749" y="2216812"/>
              <a:ext cx="1329143" cy="145264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聚类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决策树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支持向量机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K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近邻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…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endParaRPr>
            </a:p>
          </p:txBody>
        </p:sp>
        <p:sp>
          <p:nvSpPr>
            <p:cNvPr id="19" name="圆角矩形标注 18"/>
            <p:cNvSpPr/>
            <p:nvPr/>
          </p:nvSpPr>
          <p:spPr>
            <a:xfrm>
              <a:off x="3841607" y="752388"/>
              <a:ext cx="1678660" cy="643338"/>
            </a:xfrm>
            <a:prstGeom prst="wedgeRoundRectCallout">
              <a:avLst>
                <a:gd name="adj1" fmla="val -45551"/>
                <a:gd name="adj2" fmla="val 117195"/>
                <a:gd name="adj3" fmla="val 16667"/>
              </a:avLst>
            </a:prstGeom>
            <a:solidFill>
              <a:schemeClr val="accent1">
                <a:alpha val="61961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依赖</a:t>
              </a: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特征工程</a:t>
              </a: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人工选择特征</a:t>
              </a:r>
            </a:p>
          </p:txBody>
        </p:sp>
        <p:sp>
          <p:nvSpPr>
            <p:cNvPr id="20" name="圆角矩形标注 19"/>
            <p:cNvSpPr/>
            <p:nvPr/>
          </p:nvSpPr>
          <p:spPr>
            <a:xfrm>
              <a:off x="6096000" y="586169"/>
              <a:ext cx="2209741" cy="643338"/>
            </a:xfrm>
            <a:prstGeom prst="wedgeRoundRectCallout">
              <a:avLst>
                <a:gd name="adj1" fmla="val -34651"/>
                <a:gd name="adj2" fmla="val 126075"/>
                <a:gd name="adj3" fmla="val 16667"/>
              </a:avLst>
            </a:prstGeom>
            <a:solidFill>
              <a:schemeClr val="accent1">
                <a:alpha val="61961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特征输入至特定算法实现具体任务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616369" y="2439380"/>
              <a:ext cx="17775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维吉尼亚鸢尾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438428" y="1725881"/>
              <a:ext cx="1592112" cy="374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22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分类方法</a:t>
              </a:r>
              <a:endPara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右箭头 14"/>
            <p:cNvSpPr/>
            <p:nvPr/>
          </p:nvSpPr>
          <p:spPr>
            <a:xfrm>
              <a:off x="7102739" y="2394638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9354006" y="1338493"/>
            <a:ext cx="2664135" cy="2203643"/>
            <a:chOff x="9472756" y="1338493"/>
            <a:chExt cx="2664135" cy="2203643"/>
          </a:xfrm>
        </p:grpSpPr>
        <p:sp>
          <p:nvSpPr>
            <p:cNvPr id="25" name="矩形 24"/>
            <p:cNvSpPr/>
            <p:nvPr/>
          </p:nvSpPr>
          <p:spPr>
            <a:xfrm>
              <a:off x="9891751" y="1338493"/>
              <a:ext cx="182614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机器学习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472756" y="2580911"/>
              <a:ext cx="2664135" cy="9612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如何通过特征工程构建最优特征？</a:t>
              </a:r>
            </a:p>
          </p:txBody>
        </p:sp>
        <p:sp>
          <p:nvSpPr>
            <p:cNvPr id="27" name="右箭头 26"/>
            <p:cNvSpPr/>
            <p:nvPr/>
          </p:nvSpPr>
          <p:spPr>
            <a:xfrm rot="5400000">
              <a:off x="10569657" y="2038700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sp>
        <p:nvSpPr>
          <p:cNvPr id="28" name="AutoShape 12"/>
          <p:cNvSpPr>
            <a:spLocks noChangeAspect="1" noChangeArrowheads="1"/>
          </p:cNvSpPr>
          <p:nvPr/>
        </p:nvSpPr>
        <p:spPr bwMode="auto">
          <a:xfrm>
            <a:off x="4945023" y="8443784"/>
            <a:ext cx="60854" cy="6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06594" y="3980342"/>
            <a:ext cx="2368221" cy="2431747"/>
            <a:chOff x="606594" y="3980342"/>
            <a:chExt cx="2368221" cy="2431747"/>
          </a:xfrm>
        </p:grpSpPr>
      </p:grpSp>
      <p:sp>
        <p:nvSpPr>
          <p:cNvPr id="34" name="左大括号 33"/>
          <p:cNvSpPr/>
          <p:nvPr/>
        </p:nvSpPr>
        <p:spPr>
          <a:xfrm>
            <a:off x="6345834" y="4046720"/>
            <a:ext cx="880534" cy="249954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117903" y="4354664"/>
            <a:ext cx="880534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颜色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纹理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轮廓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…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9590397" y="4247279"/>
            <a:ext cx="2182605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特征多样性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部分遮挡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背景干扰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视角变化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40" name="右箭头 39"/>
          <p:cNvSpPr/>
          <p:nvPr/>
        </p:nvSpPr>
        <p:spPr>
          <a:xfrm>
            <a:off x="8514096" y="5051694"/>
            <a:ext cx="470330" cy="4895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140543" y="4637387"/>
            <a:ext cx="312751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特征工程如何做？</a:t>
            </a:r>
            <a:endParaRPr kumimoji="0" lang="zh-CN" altLang="en-US" sz="40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rgbClr val="5B9BD5">
                    <a:lumMod val="60000"/>
                    <a:lumOff val="40000"/>
                  </a:srgbClr>
                </a:outerShdw>
              </a:effectLst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/>
      <p:bldP spid="39" grpId="0"/>
      <p:bldP spid="40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5228" y="127068"/>
            <a:ext cx="5186828" cy="493944"/>
            <a:chOff x="-5228" y="142062"/>
            <a:chExt cx="5186828" cy="493944"/>
          </a:xfrm>
        </p:grpSpPr>
        <p:sp>
          <p:nvSpPr>
            <p:cNvPr id="10" name="矩形 25"/>
            <p:cNvSpPr/>
            <p:nvPr/>
          </p:nvSpPr>
          <p:spPr>
            <a:xfrm>
              <a:off x="331663" y="142062"/>
              <a:ext cx="4849937" cy="493944"/>
            </a:xfrm>
            <a:prstGeom prst="rect">
              <a:avLst/>
            </a:prstGeom>
            <a:solidFill>
              <a:srgbClr val="2F5597"/>
            </a:solidFill>
            <a:ln w="12700" cap="flat">
              <a:solidFill>
                <a:srgbClr val="2F559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-5228" y="142062"/>
              <a:ext cx="292359" cy="493944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389" tIns="33694" rIns="67389" bIns="33694" rtlCol="0" anchor="ctr"/>
            <a:lstStyle/>
            <a:p>
              <a:pPr marL="0" marR="0" lvl="0" indent="0" algn="ctr" defTabSz="673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4E639C"/>
                </a:solidFill>
                <a:effectLst/>
                <a:uLnTx/>
                <a:uFillTx/>
                <a:latin typeface="等线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115" y="173770"/>
              <a:ext cx="4694526" cy="4305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6381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微软雅黑" panose="020B0503020204020204" pitchFamily="34" charset="-122"/>
                  <a:cs typeface="+mn-cs"/>
                  <a:sym typeface="Arial" panose="020B0604020202090204" pitchFamily="34" charset="0"/>
                </a:rPr>
                <a:t>什么是深度学习</a:t>
              </a:r>
            </a:p>
          </p:txBody>
        </p:sp>
      </p:grpSp>
      <p:sp>
        <p:nvSpPr>
          <p:cNvPr id="12" name="矩形 11"/>
          <p:cNvSpPr/>
          <p:nvPr/>
        </p:nvSpPr>
        <p:spPr>
          <a:xfrm flipV="1">
            <a:off x="12058033" y="158221"/>
            <a:ext cx="133967" cy="43163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marL="0" marR="0" lvl="0" indent="0" algn="ctr" defTabSz="673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4E639C"/>
              </a:solidFill>
              <a:effectLst/>
              <a:uLnTx/>
              <a:uFillTx/>
              <a:latin typeface="等线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54" name="组合 453"/>
          <p:cNvGrpSpPr/>
          <p:nvPr/>
        </p:nvGrpSpPr>
        <p:grpSpPr>
          <a:xfrm>
            <a:off x="2201413" y="2226630"/>
            <a:ext cx="8522588" cy="3095375"/>
            <a:chOff x="2201413" y="1965375"/>
            <a:chExt cx="8522588" cy="3095375"/>
          </a:xfrm>
        </p:grpSpPr>
        <p:sp>
          <p:nvSpPr>
            <p:cNvPr id="3" name="圆角矩形 2"/>
            <p:cNvSpPr/>
            <p:nvPr/>
          </p:nvSpPr>
          <p:spPr>
            <a:xfrm>
              <a:off x="2201413" y="1965375"/>
              <a:ext cx="1777529" cy="2218122"/>
            </a:xfrm>
            <a:prstGeom prst="roundRect">
              <a:avLst/>
            </a:prstGeom>
            <a:noFill/>
            <a:ln w="15875"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675968" y="2007697"/>
              <a:ext cx="811958" cy="374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N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×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pitchFamily="18" charset="0"/>
                  <a:ea typeface="等线"/>
                  <a:cs typeface="Times New Roman" panose="02020503050405090304" pitchFamily="18" charset="0"/>
                </a:rPr>
                <a:t>N</a:t>
              </a:r>
            </a:p>
          </p:txBody>
        </p:sp>
        <p:sp>
          <p:nvSpPr>
            <p:cNvPr id="5" name="右箭头 4"/>
            <p:cNvSpPr/>
            <p:nvPr/>
          </p:nvSpPr>
          <p:spPr>
            <a:xfrm>
              <a:off x="3906066" y="2829638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83996" y="1965375"/>
              <a:ext cx="5111349" cy="2218122"/>
            </a:xfrm>
            <a:prstGeom prst="roundRect">
              <a:avLst/>
            </a:prstGeom>
            <a:noFill/>
            <a:ln w="15875"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9" name="右箭头 8"/>
            <p:cNvSpPr/>
            <p:nvPr/>
          </p:nvSpPr>
          <p:spPr>
            <a:xfrm>
              <a:off x="9370080" y="2823529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715379" y="2483871"/>
              <a:ext cx="37068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神经网络</a:t>
              </a:r>
            </a:p>
          </p:txBody>
        </p:sp>
        <p:sp>
          <p:nvSpPr>
            <p:cNvPr id="15" name="圆角矩形标注 14"/>
            <p:cNvSpPr/>
            <p:nvPr/>
          </p:nvSpPr>
          <p:spPr>
            <a:xfrm>
              <a:off x="6421961" y="4361622"/>
              <a:ext cx="2293418" cy="699128"/>
            </a:xfrm>
            <a:prstGeom prst="wedgeRoundRectCallout">
              <a:avLst>
                <a:gd name="adj1" fmla="val -68547"/>
                <a:gd name="adj2" fmla="val -87998"/>
                <a:gd name="adj3" fmla="val 16667"/>
              </a:avLst>
            </a:prstGeom>
            <a:solidFill>
              <a:srgbClr val="0070C0">
                <a:alpha val="62000"/>
              </a:srgbClr>
            </a:solidFill>
            <a:ln>
              <a:solidFill>
                <a:srgbClr val="083AA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通过神经网络隐藏层自动提取特征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509848" y="2136160"/>
              <a:ext cx="3989454" cy="1944708"/>
              <a:chOff x="4320" y="3498"/>
              <a:chExt cx="11521" cy="5566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4472" y="5520"/>
                <a:ext cx="404" cy="447"/>
              </a:xfrm>
              <a:prstGeom prst="ellipse">
                <a:avLst/>
              </a:prstGeom>
              <a:solidFill>
                <a:schemeClr val="bg1"/>
              </a:solidFill>
              <a:ln w="0" cmpd="sng">
                <a:solidFill>
                  <a:schemeClr val="tx1">
                    <a:alpha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4320" y="3498"/>
                <a:ext cx="2444" cy="5486"/>
                <a:chOff x="4320" y="3498"/>
                <a:chExt cx="2444" cy="5486"/>
              </a:xfrm>
            </p:grpSpPr>
            <p:sp>
              <p:nvSpPr>
                <p:cNvPr id="369" name="椭圆 368"/>
                <p:cNvSpPr/>
                <p:nvPr/>
              </p:nvSpPr>
              <p:spPr>
                <a:xfrm>
                  <a:off x="4320" y="408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0" name="椭圆 369"/>
                <p:cNvSpPr/>
                <p:nvPr/>
              </p:nvSpPr>
              <p:spPr>
                <a:xfrm>
                  <a:off x="4320" y="4698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1" name="椭圆 370"/>
                <p:cNvSpPr/>
                <p:nvPr/>
              </p:nvSpPr>
              <p:spPr>
                <a:xfrm>
                  <a:off x="4320" y="598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2" name="椭圆 371"/>
                <p:cNvSpPr/>
                <p:nvPr/>
              </p:nvSpPr>
              <p:spPr>
                <a:xfrm>
                  <a:off x="4320" y="660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3" name="椭圆 372"/>
                <p:cNvSpPr/>
                <p:nvPr/>
              </p:nvSpPr>
              <p:spPr>
                <a:xfrm>
                  <a:off x="4320" y="536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4" name="椭圆 373"/>
                <p:cNvSpPr/>
                <p:nvPr/>
              </p:nvSpPr>
              <p:spPr>
                <a:xfrm>
                  <a:off x="4320" y="788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375" name="椭圆 374"/>
                <p:cNvSpPr/>
                <p:nvPr/>
              </p:nvSpPr>
              <p:spPr>
                <a:xfrm>
                  <a:off x="4320" y="7266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grpSp>
              <p:nvGrpSpPr>
                <p:cNvPr id="376" name="组合 375"/>
                <p:cNvGrpSpPr/>
                <p:nvPr/>
              </p:nvGrpSpPr>
              <p:grpSpPr>
                <a:xfrm>
                  <a:off x="6360" y="3498"/>
                  <a:ext cx="404" cy="5486"/>
                  <a:chOff x="6360" y="3498"/>
                  <a:chExt cx="404" cy="5486"/>
                </a:xfrm>
              </p:grpSpPr>
              <p:grpSp>
                <p:nvGrpSpPr>
                  <p:cNvPr id="440" name="组合 439"/>
                  <p:cNvGrpSpPr/>
                  <p:nvPr/>
                </p:nvGrpSpPr>
                <p:grpSpPr>
                  <a:xfrm>
                    <a:off x="6360" y="3498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449" name="椭圆 448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50" name="椭圆 449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51" name="椭圆 450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41" name="组合 440"/>
                  <p:cNvGrpSpPr/>
                  <p:nvPr/>
                </p:nvGrpSpPr>
                <p:grpSpPr>
                  <a:xfrm>
                    <a:off x="6360" y="5400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446" name="椭圆 445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47" name="椭圆 446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48" name="椭圆 447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42" name="组合 441"/>
                  <p:cNvGrpSpPr/>
                  <p:nvPr/>
                </p:nvGrpSpPr>
                <p:grpSpPr>
                  <a:xfrm>
                    <a:off x="6360" y="7302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443" name="椭圆 442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44" name="椭圆 443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445" name="椭圆 444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377" name="直接箭头连接符 948"/>
                <p:cNvCxnSpPr/>
                <p:nvPr/>
              </p:nvCxnSpPr>
              <p:spPr>
                <a:xfrm>
                  <a:off x="4724" y="434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接箭头连接符 949"/>
                <p:cNvCxnSpPr/>
                <p:nvPr/>
              </p:nvCxnSpPr>
              <p:spPr>
                <a:xfrm>
                  <a:off x="4724" y="434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接箭头连接符 950"/>
                <p:cNvCxnSpPr/>
                <p:nvPr/>
              </p:nvCxnSpPr>
              <p:spPr>
                <a:xfrm>
                  <a:off x="4724" y="434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直接箭头连接符 951"/>
                <p:cNvCxnSpPr/>
                <p:nvPr/>
              </p:nvCxnSpPr>
              <p:spPr>
                <a:xfrm>
                  <a:off x="4724" y="434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直接箭头连接符 952"/>
                <p:cNvCxnSpPr/>
                <p:nvPr/>
              </p:nvCxnSpPr>
              <p:spPr>
                <a:xfrm>
                  <a:off x="4724" y="434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直接箭头连接符 953"/>
                <p:cNvCxnSpPr/>
                <p:nvPr/>
              </p:nvCxnSpPr>
              <p:spPr>
                <a:xfrm>
                  <a:off x="4681" y="425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直接箭头连接符 954"/>
                <p:cNvCxnSpPr/>
                <p:nvPr/>
              </p:nvCxnSpPr>
              <p:spPr>
                <a:xfrm>
                  <a:off x="4681" y="425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接箭头连接符 955"/>
                <p:cNvCxnSpPr/>
                <p:nvPr/>
              </p:nvCxnSpPr>
              <p:spPr>
                <a:xfrm>
                  <a:off x="4681" y="4374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直接箭头连接符 956"/>
                <p:cNvCxnSpPr/>
                <p:nvPr/>
              </p:nvCxnSpPr>
              <p:spPr>
                <a:xfrm flipV="1">
                  <a:off x="4801" y="3720"/>
                  <a:ext cx="1559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直接箭头连接符 957"/>
                <p:cNvCxnSpPr/>
                <p:nvPr/>
              </p:nvCxnSpPr>
              <p:spPr>
                <a:xfrm>
                  <a:off x="4724" y="492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直接箭头连接符 958"/>
                <p:cNvCxnSpPr/>
                <p:nvPr/>
              </p:nvCxnSpPr>
              <p:spPr>
                <a:xfrm>
                  <a:off x="4724" y="492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直接箭头连接符 959"/>
                <p:cNvCxnSpPr/>
                <p:nvPr/>
              </p:nvCxnSpPr>
              <p:spPr>
                <a:xfrm>
                  <a:off x="4724" y="492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直接箭头连接符 960"/>
                <p:cNvCxnSpPr/>
                <p:nvPr/>
              </p:nvCxnSpPr>
              <p:spPr>
                <a:xfrm>
                  <a:off x="4724" y="492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直接箭头连接符 961"/>
                <p:cNvCxnSpPr/>
                <p:nvPr/>
              </p:nvCxnSpPr>
              <p:spPr>
                <a:xfrm>
                  <a:off x="4724" y="492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直接箭头连接符 962"/>
                <p:cNvCxnSpPr/>
                <p:nvPr/>
              </p:nvCxnSpPr>
              <p:spPr>
                <a:xfrm>
                  <a:off x="4681" y="483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直接箭头连接符 963"/>
                <p:cNvCxnSpPr/>
                <p:nvPr/>
              </p:nvCxnSpPr>
              <p:spPr>
                <a:xfrm>
                  <a:off x="4681" y="483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直接箭头连接符 964"/>
                <p:cNvCxnSpPr/>
                <p:nvPr/>
              </p:nvCxnSpPr>
              <p:spPr>
                <a:xfrm flipV="1">
                  <a:off x="4681" y="4320"/>
                  <a:ext cx="1679" cy="6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直接箭头连接符 965"/>
                <p:cNvCxnSpPr/>
                <p:nvPr/>
              </p:nvCxnSpPr>
              <p:spPr>
                <a:xfrm flipV="1">
                  <a:off x="4801" y="3720"/>
                  <a:ext cx="1559" cy="12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直接箭头连接符 966"/>
                <p:cNvCxnSpPr/>
                <p:nvPr/>
              </p:nvCxnSpPr>
              <p:spPr>
                <a:xfrm>
                  <a:off x="4724" y="558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直接箭头连接符 967"/>
                <p:cNvCxnSpPr/>
                <p:nvPr/>
              </p:nvCxnSpPr>
              <p:spPr>
                <a:xfrm>
                  <a:off x="4724" y="5588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直接箭头连接符 968"/>
                <p:cNvCxnSpPr/>
                <p:nvPr/>
              </p:nvCxnSpPr>
              <p:spPr>
                <a:xfrm>
                  <a:off x="4724" y="5588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直接箭头连接符 969"/>
                <p:cNvCxnSpPr/>
                <p:nvPr/>
              </p:nvCxnSpPr>
              <p:spPr>
                <a:xfrm>
                  <a:off x="4724" y="5588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直接箭头连接符 970"/>
                <p:cNvCxnSpPr/>
                <p:nvPr/>
              </p:nvCxnSpPr>
              <p:spPr>
                <a:xfrm>
                  <a:off x="4724" y="5588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直接箭头连接符 971"/>
                <p:cNvCxnSpPr/>
                <p:nvPr/>
              </p:nvCxnSpPr>
              <p:spPr>
                <a:xfrm>
                  <a:off x="4681" y="5502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直接箭头连接符 972"/>
                <p:cNvCxnSpPr/>
                <p:nvPr/>
              </p:nvCxnSpPr>
              <p:spPr>
                <a:xfrm flipV="1">
                  <a:off x="4681" y="5040"/>
                  <a:ext cx="1679" cy="46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直接箭头连接符 973"/>
                <p:cNvCxnSpPr/>
                <p:nvPr/>
              </p:nvCxnSpPr>
              <p:spPr>
                <a:xfrm flipV="1">
                  <a:off x="4681" y="4320"/>
                  <a:ext cx="1679" cy="1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直接箭头连接符 974"/>
                <p:cNvCxnSpPr/>
                <p:nvPr/>
              </p:nvCxnSpPr>
              <p:spPr>
                <a:xfrm flipV="1">
                  <a:off x="4801" y="3840"/>
                  <a:ext cx="1559" cy="178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直接箭头连接符 975"/>
                <p:cNvCxnSpPr/>
                <p:nvPr/>
              </p:nvCxnSpPr>
              <p:spPr>
                <a:xfrm>
                  <a:off x="4724" y="620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直接箭头连接符 976"/>
                <p:cNvCxnSpPr/>
                <p:nvPr/>
              </p:nvCxnSpPr>
              <p:spPr>
                <a:xfrm>
                  <a:off x="4724" y="620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直接箭头连接符 977"/>
                <p:cNvCxnSpPr/>
                <p:nvPr/>
              </p:nvCxnSpPr>
              <p:spPr>
                <a:xfrm>
                  <a:off x="4724" y="620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直接箭头连接符 978"/>
                <p:cNvCxnSpPr/>
                <p:nvPr/>
              </p:nvCxnSpPr>
              <p:spPr>
                <a:xfrm>
                  <a:off x="4724" y="620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直接箭头连接符 979"/>
                <p:cNvCxnSpPr/>
                <p:nvPr/>
              </p:nvCxnSpPr>
              <p:spPr>
                <a:xfrm>
                  <a:off x="4724" y="620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直接箭头连接符 980"/>
                <p:cNvCxnSpPr/>
                <p:nvPr/>
              </p:nvCxnSpPr>
              <p:spPr>
                <a:xfrm flipV="1">
                  <a:off x="4681" y="5640"/>
                  <a:ext cx="1679" cy="48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直接箭头连接符 981"/>
                <p:cNvCxnSpPr/>
                <p:nvPr/>
              </p:nvCxnSpPr>
              <p:spPr>
                <a:xfrm flipV="1">
                  <a:off x="4681" y="4920"/>
                  <a:ext cx="1679" cy="12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直接箭头连接符 982"/>
                <p:cNvCxnSpPr>
                  <a:endCxn id="449" idx="2"/>
                </p:cNvCxnSpPr>
                <p:nvPr/>
              </p:nvCxnSpPr>
              <p:spPr>
                <a:xfrm flipV="1">
                  <a:off x="4681" y="4340"/>
                  <a:ext cx="1679" cy="19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直接箭头连接符 983"/>
                <p:cNvCxnSpPr/>
                <p:nvPr/>
              </p:nvCxnSpPr>
              <p:spPr>
                <a:xfrm flipV="1">
                  <a:off x="4801" y="3720"/>
                  <a:ext cx="1559" cy="252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直接箭头连接符 984"/>
                <p:cNvCxnSpPr/>
                <p:nvPr/>
              </p:nvCxnSpPr>
              <p:spPr>
                <a:xfrm>
                  <a:off x="4724" y="68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直接箭头连接符 985"/>
                <p:cNvCxnSpPr/>
                <p:nvPr/>
              </p:nvCxnSpPr>
              <p:spPr>
                <a:xfrm>
                  <a:off x="4724" y="68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直接箭头连接符 986"/>
                <p:cNvCxnSpPr/>
                <p:nvPr/>
              </p:nvCxnSpPr>
              <p:spPr>
                <a:xfrm>
                  <a:off x="4724" y="689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直接箭头连接符 987"/>
                <p:cNvCxnSpPr/>
                <p:nvPr/>
              </p:nvCxnSpPr>
              <p:spPr>
                <a:xfrm>
                  <a:off x="4724" y="6894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直接箭头连接符 988"/>
                <p:cNvCxnSpPr>
                  <a:endCxn id="446" idx="2"/>
                </p:cNvCxnSpPr>
                <p:nvPr/>
              </p:nvCxnSpPr>
              <p:spPr>
                <a:xfrm flipV="1">
                  <a:off x="4724" y="6242"/>
                  <a:ext cx="1636" cy="65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直接箭头连接符 989"/>
                <p:cNvCxnSpPr/>
                <p:nvPr/>
              </p:nvCxnSpPr>
              <p:spPr>
                <a:xfrm flipV="1">
                  <a:off x="4681" y="5640"/>
                  <a:ext cx="1679" cy="11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直接箭头连接符 990"/>
                <p:cNvCxnSpPr/>
                <p:nvPr/>
              </p:nvCxnSpPr>
              <p:spPr>
                <a:xfrm flipV="1">
                  <a:off x="4681" y="37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直接箭头连接符 991"/>
                <p:cNvCxnSpPr/>
                <p:nvPr/>
              </p:nvCxnSpPr>
              <p:spPr>
                <a:xfrm flipV="1">
                  <a:off x="4681" y="4320"/>
                  <a:ext cx="1679" cy="26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直接箭头连接符 992"/>
                <p:cNvCxnSpPr>
                  <a:endCxn id="450" idx="2"/>
                </p:cNvCxnSpPr>
                <p:nvPr/>
              </p:nvCxnSpPr>
              <p:spPr>
                <a:xfrm flipV="1">
                  <a:off x="4801" y="4958"/>
                  <a:ext cx="1559" cy="19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直接箭头连接符 993"/>
                <p:cNvCxnSpPr/>
                <p:nvPr/>
              </p:nvCxnSpPr>
              <p:spPr>
                <a:xfrm>
                  <a:off x="4724" y="747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直接箭头连接符 994"/>
                <p:cNvCxnSpPr/>
                <p:nvPr/>
              </p:nvCxnSpPr>
              <p:spPr>
                <a:xfrm>
                  <a:off x="4724" y="747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直接箭头连接符 995"/>
                <p:cNvCxnSpPr/>
                <p:nvPr/>
              </p:nvCxnSpPr>
              <p:spPr>
                <a:xfrm>
                  <a:off x="4724" y="747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直接箭头连接符 996"/>
                <p:cNvCxnSpPr/>
                <p:nvPr/>
              </p:nvCxnSpPr>
              <p:spPr>
                <a:xfrm flipV="1">
                  <a:off x="4724" y="6860"/>
                  <a:ext cx="1636" cy="61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直接箭头连接符 997"/>
                <p:cNvCxnSpPr/>
                <p:nvPr/>
              </p:nvCxnSpPr>
              <p:spPr>
                <a:xfrm flipV="1">
                  <a:off x="4724" y="6120"/>
                  <a:ext cx="1636" cy="13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直接箭头连接符 998"/>
                <p:cNvCxnSpPr/>
                <p:nvPr/>
              </p:nvCxnSpPr>
              <p:spPr>
                <a:xfrm flipV="1">
                  <a:off x="4681" y="4920"/>
                  <a:ext cx="1679" cy="24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直接箭头连接符 999"/>
                <p:cNvCxnSpPr/>
                <p:nvPr/>
              </p:nvCxnSpPr>
              <p:spPr>
                <a:xfrm flipV="1">
                  <a:off x="4681" y="3720"/>
                  <a:ext cx="1679" cy="36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直接箭头连接符 1000"/>
                <p:cNvCxnSpPr/>
                <p:nvPr/>
              </p:nvCxnSpPr>
              <p:spPr>
                <a:xfrm flipV="1">
                  <a:off x="4681" y="4440"/>
                  <a:ext cx="1679" cy="30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直接箭头连接符 1001"/>
                <p:cNvCxnSpPr/>
                <p:nvPr/>
              </p:nvCxnSpPr>
              <p:spPr>
                <a:xfrm flipV="1">
                  <a:off x="4801" y="6240"/>
                  <a:ext cx="1559" cy="12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直接箭头连接符 1002"/>
                <p:cNvCxnSpPr/>
                <p:nvPr/>
              </p:nvCxnSpPr>
              <p:spPr>
                <a:xfrm>
                  <a:off x="4724" y="80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直接箭头连接符 1003"/>
                <p:cNvCxnSpPr/>
                <p:nvPr/>
              </p:nvCxnSpPr>
              <p:spPr>
                <a:xfrm>
                  <a:off x="4724" y="80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直接箭头连接符 1004"/>
                <p:cNvCxnSpPr/>
                <p:nvPr/>
              </p:nvCxnSpPr>
              <p:spPr>
                <a:xfrm flipV="1">
                  <a:off x="4724" y="6840"/>
                  <a:ext cx="1636" cy="12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直接箭头连接符 1005"/>
                <p:cNvCxnSpPr/>
                <p:nvPr/>
              </p:nvCxnSpPr>
              <p:spPr>
                <a:xfrm flipV="1">
                  <a:off x="4724" y="6360"/>
                  <a:ext cx="1516" cy="17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直接箭头连接符 1006"/>
                <p:cNvCxnSpPr/>
                <p:nvPr/>
              </p:nvCxnSpPr>
              <p:spPr>
                <a:xfrm flipV="1">
                  <a:off x="4724" y="5624"/>
                  <a:ext cx="1636" cy="24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直接箭头连接符 1007"/>
                <p:cNvCxnSpPr/>
                <p:nvPr/>
              </p:nvCxnSpPr>
              <p:spPr>
                <a:xfrm flipV="1">
                  <a:off x="4681" y="49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直接箭头连接符 1008"/>
                <p:cNvCxnSpPr/>
                <p:nvPr/>
              </p:nvCxnSpPr>
              <p:spPr>
                <a:xfrm flipV="1">
                  <a:off x="4681" y="4800"/>
                  <a:ext cx="1679" cy="32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直接箭头连接符 1009"/>
                <p:cNvCxnSpPr/>
                <p:nvPr/>
              </p:nvCxnSpPr>
              <p:spPr>
                <a:xfrm flipV="1">
                  <a:off x="4681" y="4440"/>
                  <a:ext cx="1679" cy="36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直接箭头连接符 1010"/>
                <p:cNvCxnSpPr/>
                <p:nvPr/>
              </p:nvCxnSpPr>
              <p:spPr>
                <a:xfrm flipV="1">
                  <a:off x="4801" y="3720"/>
                  <a:ext cx="1559" cy="44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组合 21"/>
              <p:cNvGrpSpPr/>
              <p:nvPr/>
            </p:nvGrpSpPr>
            <p:grpSpPr>
              <a:xfrm>
                <a:off x="6359" y="3510"/>
                <a:ext cx="2444" cy="5522"/>
                <a:chOff x="4320" y="3462"/>
                <a:chExt cx="2444" cy="5522"/>
              </a:xfrm>
            </p:grpSpPr>
            <p:sp>
              <p:nvSpPr>
                <p:cNvPr id="265" name="椭圆 264"/>
                <p:cNvSpPr/>
                <p:nvPr/>
              </p:nvSpPr>
              <p:spPr>
                <a:xfrm>
                  <a:off x="4320" y="408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66" name="椭圆 265"/>
                <p:cNvSpPr/>
                <p:nvPr/>
              </p:nvSpPr>
              <p:spPr>
                <a:xfrm>
                  <a:off x="4320" y="4698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67" name="椭圆 266"/>
                <p:cNvSpPr/>
                <p:nvPr/>
              </p:nvSpPr>
              <p:spPr>
                <a:xfrm>
                  <a:off x="4320" y="346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68" name="椭圆 267"/>
                <p:cNvSpPr/>
                <p:nvPr/>
              </p:nvSpPr>
              <p:spPr>
                <a:xfrm>
                  <a:off x="4320" y="598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69" name="椭圆 268"/>
                <p:cNvSpPr/>
                <p:nvPr/>
              </p:nvSpPr>
              <p:spPr>
                <a:xfrm>
                  <a:off x="4320" y="660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70" name="椭圆 269"/>
                <p:cNvSpPr/>
                <p:nvPr/>
              </p:nvSpPr>
              <p:spPr>
                <a:xfrm>
                  <a:off x="4320" y="536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71" name="椭圆 270"/>
                <p:cNvSpPr/>
                <p:nvPr/>
              </p:nvSpPr>
              <p:spPr>
                <a:xfrm>
                  <a:off x="4320" y="788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72" name="椭圆 271"/>
                <p:cNvSpPr/>
                <p:nvPr/>
              </p:nvSpPr>
              <p:spPr>
                <a:xfrm>
                  <a:off x="4320" y="850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273" name="椭圆 272"/>
                <p:cNvSpPr/>
                <p:nvPr/>
              </p:nvSpPr>
              <p:spPr>
                <a:xfrm>
                  <a:off x="4320" y="7266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grpSp>
              <p:nvGrpSpPr>
                <p:cNvPr id="274" name="组合 273"/>
                <p:cNvGrpSpPr/>
                <p:nvPr/>
              </p:nvGrpSpPr>
              <p:grpSpPr>
                <a:xfrm>
                  <a:off x="6360" y="3498"/>
                  <a:ext cx="404" cy="5486"/>
                  <a:chOff x="6360" y="3498"/>
                  <a:chExt cx="404" cy="5486"/>
                </a:xfrm>
              </p:grpSpPr>
              <p:grpSp>
                <p:nvGrpSpPr>
                  <p:cNvPr id="357" name="组合 356"/>
                  <p:cNvGrpSpPr/>
                  <p:nvPr/>
                </p:nvGrpSpPr>
                <p:grpSpPr>
                  <a:xfrm>
                    <a:off x="6360" y="3498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366" name="椭圆 365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7" name="椭圆 366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8" name="椭圆 367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58" name="组合 357"/>
                  <p:cNvGrpSpPr/>
                  <p:nvPr/>
                </p:nvGrpSpPr>
                <p:grpSpPr>
                  <a:xfrm>
                    <a:off x="6360" y="5400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363" name="椭圆 362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4" name="椭圆 363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5" name="椭圆 364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59" name="组合 358"/>
                  <p:cNvGrpSpPr/>
                  <p:nvPr/>
                </p:nvGrpSpPr>
                <p:grpSpPr>
                  <a:xfrm>
                    <a:off x="6360" y="7302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360" name="椭圆 359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1" name="椭圆 360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362" name="椭圆 361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275" name="直接箭头连接符 1034"/>
                <p:cNvCxnSpPr>
                  <a:stCxn id="267" idx="6"/>
                  <a:endCxn id="368" idx="2"/>
                </p:cNvCxnSpPr>
                <p:nvPr/>
              </p:nvCxnSpPr>
              <p:spPr>
                <a:xfrm>
                  <a:off x="4724" y="368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箭头连接符 1035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直接箭头连接符 1036"/>
                <p:cNvCxnSpPr>
                  <a:stCxn id="267" idx="6"/>
                  <a:endCxn id="366" idx="2"/>
                </p:cNvCxnSpPr>
                <p:nvPr/>
              </p:nvCxnSpPr>
              <p:spPr>
                <a:xfrm>
                  <a:off x="4724" y="368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直接箭头连接符 1037"/>
                <p:cNvCxnSpPr>
                  <a:stCxn id="267" idx="6"/>
                  <a:endCxn id="367" idx="2"/>
                </p:cNvCxnSpPr>
                <p:nvPr/>
              </p:nvCxnSpPr>
              <p:spPr>
                <a:xfrm>
                  <a:off x="4724" y="368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直接箭头连接符 1038"/>
                <p:cNvCxnSpPr/>
                <p:nvPr/>
              </p:nvCxnSpPr>
              <p:spPr>
                <a:xfrm>
                  <a:off x="4724" y="368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直接箭头连接符 1039"/>
                <p:cNvCxnSpPr>
                  <a:stCxn id="267" idx="6"/>
                </p:cNvCxnSpPr>
                <p:nvPr/>
              </p:nvCxnSpPr>
              <p:spPr>
                <a:xfrm>
                  <a:off x="4724" y="368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直接箭头连接符 1040"/>
                <p:cNvCxnSpPr>
                  <a:endCxn id="364" idx="2"/>
                </p:cNvCxnSpPr>
                <p:nvPr/>
              </p:nvCxnSpPr>
              <p:spPr>
                <a:xfrm>
                  <a:off x="4681" y="3600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直接箭头连接符 1041"/>
                <p:cNvCxnSpPr>
                  <a:endCxn id="362" idx="2"/>
                </p:cNvCxnSpPr>
                <p:nvPr/>
              </p:nvCxnSpPr>
              <p:spPr>
                <a:xfrm>
                  <a:off x="4681" y="3600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直接箭头连接符 1042"/>
                <p:cNvCxnSpPr>
                  <a:endCxn id="360" idx="2"/>
                </p:cNvCxnSpPr>
                <p:nvPr/>
              </p:nvCxnSpPr>
              <p:spPr>
                <a:xfrm>
                  <a:off x="4681" y="3720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直接箭头连接符 1043"/>
                <p:cNvCxnSpPr>
                  <a:endCxn id="361" idx="2"/>
                </p:cNvCxnSpPr>
                <p:nvPr/>
              </p:nvCxnSpPr>
              <p:spPr>
                <a:xfrm>
                  <a:off x="4801" y="3720"/>
                  <a:ext cx="1559" cy="504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直接箭头连接符 1044"/>
                <p:cNvCxnSpPr/>
                <p:nvPr/>
              </p:nvCxnSpPr>
              <p:spPr>
                <a:xfrm>
                  <a:off x="4724" y="434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直接箭头连接符 1045"/>
                <p:cNvCxnSpPr/>
                <p:nvPr/>
              </p:nvCxnSpPr>
              <p:spPr>
                <a:xfrm>
                  <a:off x="4724" y="434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直接箭头连接符 1046"/>
                <p:cNvCxnSpPr/>
                <p:nvPr/>
              </p:nvCxnSpPr>
              <p:spPr>
                <a:xfrm>
                  <a:off x="4724" y="434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直接箭头连接符 1047"/>
                <p:cNvCxnSpPr/>
                <p:nvPr/>
              </p:nvCxnSpPr>
              <p:spPr>
                <a:xfrm>
                  <a:off x="4724" y="434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直接箭头连接符 1048"/>
                <p:cNvCxnSpPr/>
                <p:nvPr/>
              </p:nvCxnSpPr>
              <p:spPr>
                <a:xfrm>
                  <a:off x="4724" y="434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直接箭头连接符 1049"/>
                <p:cNvCxnSpPr/>
                <p:nvPr/>
              </p:nvCxnSpPr>
              <p:spPr>
                <a:xfrm>
                  <a:off x="4681" y="425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直接箭头连接符 1050"/>
                <p:cNvCxnSpPr/>
                <p:nvPr/>
              </p:nvCxnSpPr>
              <p:spPr>
                <a:xfrm>
                  <a:off x="4681" y="425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直接箭头连接符 1051"/>
                <p:cNvCxnSpPr/>
                <p:nvPr/>
              </p:nvCxnSpPr>
              <p:spPr>
                <a:xfrm>
                  <a:off x="4681" y="4374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直接箭头连接符 1052"/>
                <p:cNvCxnSpPr/>
                <p:nvPr/>
              </p:nvCxnSpPr>
              <p:spPr>
                <a:xfrm flipV="1">
                  <a:off x="4801" y="3720"/>
                  <a:ext cx="1559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直接箭头连接符 1053"/>
                <p:cNvCxnSpPr/>
                <p:nvPr/>
              </p:nvCxnSpPr>
              <p:spPr>
                <a:xfrm>
                  <a:off x="4724" y="492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直接箭头连接符 1054"/>
                <p:cNvCxnSpPr/>
                <p:nvPr/>
              </p:nvCxnSpPr>
              <p:spPr>
                <a:xfrm>
                  <a:off x="4724" y="492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直接箭头连接符 1055"/>
                <p:cNvCxnSpPr/>
                <p:nvPr/>
              </p:nvCxnSpPr>
              <p:spPr>
                <a:xfrm>
                  <a:off x="4724" y="492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直接箭头连接符 1056"/>
                <p:cNvCxnSpPr/>
                <p:nvPr/>
              </p:nvCxnSpPr>
              <p:spPr>
                <a:xfrm>
                  <a:off x="4724" y="492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直接箭头连接符 1057"/>
                <p:cNvCxnSpPr/>
                <p:nvPr/>
              </p:nvCxnSpPr>
              <p:spPr>
                <a:xfrm>
                  <a:off x="4724" y="492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直接箭头连接符 1058"/>
                <p:cNvCxnSpPr/>
                <p:nvPr/>
              </p:nvCxnSpPr>
              <p:spPr>
                <a:xfrm>
                  <a:off x="4681" y="483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直接箭头连接符 1059"/>
                <p:cNvCxnSpPr/>
                <p:nvPr/>
              </p:nvCxnSpPr>
              <p:spPr>
                <a:xfrm>
                  <a:off x="4681" y="483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直接箭头连接符 1060"/>
                <p:cNvCxnSpPr/>
                <p:nvPr/>
              </p:nvCxnSpPr>
              <p:spPr>
                <a:xfrm flipV="1">
                  <a:off x="4681" y="4320"/>
                  <a:ext cx="1679" cy="6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直接箭头连接符 1061"/>
                <p:cNvCxnSpPr/>
                <p:nvPr/>
              </p:nvCxnSpPr>
              <p:spPr>
                <a:xfrm flipV="1">
                  <a:off x="4801" y="3720"/>
                  <a:ext cx="1559" cy="12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直接箭头连接符 1062"/>
                <p:cNvCxnSpPr/>
                <p:nvPr/>
              </p:nvCxnSpPr>
              <p:spPr>
                <a:xfrm>
                  <a:off x="4724" y="558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直接箭头连接符 1063"/>
                <p:cNvCxnSpPr/>
                <p:nvPr/>
              </p:nvCxnSpPr>
              <p:spPr>
                <a:xfrm>
                  <a:off x="4724" y="5588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直接箭头连接符 1064"/>
                <p:cNvCxnSpPr/>
                <p:nvPr/>
              </p:nvCxnSpPr>
              <p:spPr>
                <a:xfrm>
                  <a:off x="4724" y="5588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直接箭头连接符 1065"/>
                <p:cNvCxnSpPr/>
                <p:nvPr/>
              </p:nvCxnSpPr>
              <p:spPr>
                <a:xfrm>
                  <a:off x="4724" y="5588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直接箭头连接符 1066"/>
                <p:cNvCxnSpPr/>
                <p:nvPr/>
              </p:nvCxnSpPr>
              <p:spPr>
                <a:xfrm>
                  <a:off x="4724" y="5588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直接箭头连接符 1067"/>
                <p:cNvCxnSpPr/>
                <p:nvPr/>
              </p:nvCxnSpPr>
              <p:spPr>
                <a:xfrm>
                  <a:off x="4681" y="5502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接箭头连接符 1068"/>
                <p:cNvCxnSpPr/>
                <p:nvPr/>
              </p:nvCxnSpPr>
              <p:spPr>
                <a:xfrm flipV="1">
                  <a:off x="4681" y="5040"/>
                  <a:ext cx="1679" cy="46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直接箭头连接符 1069"/>
                <p:cNvCxnSpPr/>
                <p:nvPr/>
              </p:nvCxnSpPr>
              <p:spPr>
                <a:xfrm flipV="1">
                  <a:off x="4681" y="4320"/>
                  <a:ext cx="1679" cy="1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直接箭头连接符 1070"/>
                <p:cNvCxnSpPr/>
                <p:nvPr/>
              </p:nvCxnSpPr>
              <p:spPr>
                <a:xfrm flipV="1">
                  <a:off x="4801" y="3840"/>
                  <a:ext cx="1559" cy="178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直接箭头连接符 1071"/>
                <p:cNvCxnSpPr/>
                <p:nvPr/>
              </p:nvCxnSpPr>
              <p:spPr>
                <a:xfrm>
                  <a:off x="4724" y="620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直接箭头连接符 1072"/>
                <p:cNvCxnSpPr/>
                <p:nvPr/>
              </p:nvCxnSpPr>
              <p:spPr>
                <a:xfrm>
                  <a:off x="4724" y="620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直接箭头连接符 1073"/>
                <p:cNvCxnSpPr/>
                <p:nvPr/>
              </p:nvCxnSpPr>
              <p:spPr>
                <a:xfrm>
                  <a:off x="4724" y="620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直接箭头连接符 1074"/>
                <p:cNvCxnSpPr/>
                <p:nvPr/>
              </p:nvCxnSpPr>
              <p:spPr>
                <a:xfrm>
                  <a:off x="4724" y="620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直接箭头连接符 1075"/>
                <p:cNvCxnSpPr/>
                <p:nvPr/>
              </p:nvCxnSpPr>
              <p:spPr>
                <a:xfrm>
                  <a:off x="4724" y="620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接箭头连接符 1076"/>
                <p:cNvCxnSpPr/>
                <p:nvPr/>
              </p:nvCxnSpPr>
              <p:spPr>
                <a:xfrm flipV="1">
                  <a:off x="4681" y="5640"/>
                  <a:ext cx="1679" cy="48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箭头连接符 1077"/>
                <p:cNvCxnSpPr/>
                <p:nvPr/>
              </p:nvCxnSpPr>
              <p:spPr>
                <a:xfrm flipV="1">
                  <a:off x="4681" y="4920"/>
                  <a:ext cx="1679" cy="12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接箭头连接符 1078"/>
                <p:cNvCxnSpPr>
                  <a:endCxn id="366" idx="2"/>
                </p:cNvCxnSpPr>
                <p:nvPr/>
              </p:nvCxnSpPr>
              <p:spPr>
                <a:xfrm flipV="1">
                  <a:off x="4681" y="4340"/>
                  <a:ext cx="1679" cy="19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直接箭头连接符 1079"/>
                <p:cNvCxnSpPr/>
                <p:nvPr/>
              </p:nvCxnSpPr>
              <p:spPr>
                <a:xfrm flipV="1">
                  <a:off x="4801" y="3720"/>
                  <a:ext cx="1559" cy="252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直接箭头连接符 1080"/>
                <p:cNvCxnSpPr/>
                <p:nvPr/>
              </p:nvCxnSpPr>
              <p:spPr>
                <a:xfrm>
                  <a:off x="4724" y="68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直接箭头连接符 1081"/>
                <p:cNvCxnSpPr/>
                <p:nvPr/>
              </p:nvCxnSpPr>
              <p:spPr>
                <a:xfrm>
                  <a:off x="4724" y="68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直接箭头连接符 1082"/>
                <p:cNvCxnSpPr/>
                <p:nvPr/>
              </p:nvCxnSpPr>
              <p:spPr>
                <a:xfrm>
                  <a:off x="4724" y="689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箭头连接符 1083"/>
                <p:cNvCxnSpPr/>
                <p:nvPr/>
              </p:nvCxnSpPr>
              <p:spPr>
                <a:xfrm>
                  <a:off x="4724" y="6894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接箭头连接符 1084"/>
                <p:cNvCxnSpPr>
                  <a:endCxn id="363" idx="2"/>
                </p:cNvCxnSpPr>
                <p:nvPr/>
              </p:nvCxnSpPr>
              <p:spPr>
                <a:xfrm flipV="1">
                  <a:off x="4724" y="6242"/>
                  <a:ext cx="1636" cy="65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箭头连接符 1085"/>
                <p:cNvCxnSpPr/>
                <p:nvPr/>
              </p:nvCxnSpPr>
              <p:spPr>
                <a:xfrm flipV="1">
                  <a:off x="4681" y="5640"/>
                  <a:ext cx="1679" cy="11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箭头连接符 1086"/>
                <p:cNvCxnSpPr/>
                <p:nvPr/>
              </p:nvCxnSpPr>
              <p:spPr>
                <a:xfrm flipV="1">
                  <a:off x="4681" y="37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直接箭头连接符 1087"/>
                <p:cNvCxnSpPr/>
                <p:nvPr/>
              </p:nvCxnSpPr>
              <p:spPr>
                <a:xfrm flipV="1">
                  <a:off x="4681" y="4320"/>
                  <a:ext cx="1679" cy="26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接箭头连接符 1088"/>
                <p:cNvCxnSpPr>
                  <a:endCxn id="367" idx="2"/>
                </p:cNvCxnSpPr>
                <p:nvPr/>
              </p:nvCxnSpPr>
              <p:spPr>
                <a:xfrm flipV="1">
                  <a:off x="4801" y="4958"/>
                  <a:ext cx="1559" cy="19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接箭头连接符 1089"/>
                <p:cNvCxnSpPr/>
                <p:nvPr/>
              </p:nvCxnSpPr>
              <p:spPr>
                <a:xfrm>
                  <a:off x="4724" y="747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直接箭头连接符 1090"/>
                <p:cNvCxnSpPr/>
                <p:nvPr/>
              </p:nvCxnSpPr>
              <p:spPr>
                <a:xfrm>
                  <a:off x="4724" y="747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直接箭头连接符 1091"/>
                <p:cNvCxnSpPr/>
                <p:nvPr/>
              </p:nvCxnSpPr>
              <p:spPr>
                <a:xfrm>
                  <a:off x="4724" y="747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直接箭头连接符 1092"/>
                <p:cNvCxnSpPr/>
                <p:nvPr/>
              </p:nvCxnSpPr>
              <p:spPr>
                <a:xfrm flipV="1">
                  <a:off x="4724" y="6860"/>
                  <a:ext cx="1636" cy="61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直接箭头连接符 1093"/>
                <p:cNvCxnSpPr/>
                <p:nvPr/>
              </p:nvCxnSpPr>
              <p:spPr>
                <a:xfrm flipV="1">
                  <a:off x="4724" y="6120"/>
                  <a:ext cx="1636" cy="13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直接箭头连接符 1094"/>
                <p:cNvCxnSpPr/>
                <p:nvPr/>
              </p:nvCxnSpPr>
              <p:spPr>
                <a:xfrm flipV="1">
                  <a:off x="4681" y="4920"/>
                  <a:ext cx="1679" cy="24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接箭头连接符 1095"/>
                <p:cNvCxnSpPr/>
                <p:nvPr/>
              </p:nvCxnSpPr>
              <p:spPr>
                <a:xfrm flipV="1">
                  <a:off x="4681" y="3720"/>
                  <a:ext cx="1679" cy="36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直接箭头连接符 1096"/>
                <p:cNvCxnSpPr/>
                <p:nvPr/>
              </p:nvCxnSpPr>
              <p:spPr>
                <a:xfrm flipV="1">
                  <a:off x="4681" y="4440"/>
                  <a:ext cx="1679" cy="30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直接箭头连接符 1097"/>
                <p:cNvCxnSpPr/>
                <p:nvPr/>
              </p:nvCxnSpPr>
              <p:spPr>
                <a:xfrm flipV="1">
                  <a:off x="4801" y="6240"/>
                  <a:ext cx="1559" cy="12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直接箭头连接符 1098"/>
                <p:cNvCxnSpPr/>
                <p:nvPr/>
              </p:nvCxnSpPr>
              <p:spPr>
                <a:xfrm>
                  <a:off x="4724" y="80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直接箭头连接符 1099"/>
                <p:cNvCxnSpPr/>
                <p:nvPr/>
              </p:nvCxnSpPr>
              <p:spPr>
                <a:xfrm>
                  <a:off x="4724" y="80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直接箭头连接符 1100"/>
                <p:cNvCxnSpPr/>
                <p:nvPr/>
              </p:nvCxnSpPr>
              <p:spPr>
                <a:xfrm flipV="1">
                  <a:off x="4724" y="6840"/>
                  <a:ext cx="1636" cy="12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直接箭头连接符 1101"/>
                <p:cNvCxnSpPr/>
                <p:nvPr/>
              </p:nvCxnSpPr>
              <p:spPr>
                <a:xfrm flipV="1">
                  <a:off x="4724" y="6360"/>
                  <a:ext cx="1516" cy="17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直接箭头连接符 1102"/>
                <p:cNvCxnSpPr/>
                <p:nvPr/>
              </p:nvCxnSpPr>
              <p:spPr>
                <a:xfrm flipV="1">
                  <a:off x="4724" y="5624"/>
                  <a:ext cx="1636" cy="24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直接箭头连接符 1103"/>
                <p:cNvCxnSpPr/>
                <p:nvPr/>
              </p:nvCxnSpPr>
              <p:spPr>
                <a:xfrm flipV="1">
                  <a:off x="4681" y="49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直接箭头连接符 1104"/>
                <p:cNvCxnSpPr/>
                <p:nvPr/>
              </p:nvCxnSpPr>
              <p:spPr>
                <a:xfrm flipV="1">
                  <a:off x="4681" y="4800"/>
                  <a:ext cx="1679" cy="32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直接箭头连接符 1105"/>
                <p:cNvCxnSpPr/>
                <p:nvPr/>
              </p:nvCxnSpPr>
              <p:spPr>
                <a:xfrm flipV="1">
                  <a:off x="4681" y="4440"/>
                  <a:ext cx="1679" cy="36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直接箭头连接符 1106"/>
                <p:cNvCxnSpPr/>
                <p:nvPr/>
              </p:nvCxnSpPr>
              <p:spPr>
                <a:xfrm flipV="1">
                  <a:off x="4801" y="3720"/>
                  <a:ext cx="1559" cy="44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直接箭头连接符 1107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直接箭头连接符 1108"/>
                <p:cNvCxnSpPr/>
                <p:nvPr/>
              </p:nvCxnSpPr>
              <p:spPr>
                <a:xfrm flipV="1">
                  <a:off x="4724" y="8279"/>
                  <a:ext cx="1516" cy="429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直接箭头连接符 1109"/>
                <p:cNvCxnSpPr/>
                <p:nvPr/>
              </p:nvCxnSpPr>
              <p:spPr>
                <a:xfrm flipV="1">
                  <a:off x="4724" y="7560"/>
                  <a:ext cx="1636" cy="11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直接箭头连接符 1110"/>
                <p:cNvCxnSpPr/>
                <p:nvPr/>
              </p:nvCxnSpPr>
              <p:spPr>
                <a:xfrm flipV="1">
                  <a:off x="4724" y="6960"/>
                  <a:ext cx="1636" cy="17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直接箭头连接符 1111"/>
                <p:cNvCxnSpPr>
                  <a:endCxn id="363" idx="2"/>
                </p:cNvCxnSpPr>
                <p:nvPr/>
              </p:nvCxnSpPr>
              <p:spPr>
                <a:xfrm flipV="1">
                  <a:off x="4724" y="6242"/>
                  <a:ext cx="1636" cy="246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直接箭头连接符 1112"/>
                <p:cNvCxnSpPr>
                  <a:endCxn id="365" idx="2"/>
                </p:cNvCxnSpPr>
                <p:nvPr/>
              </p:nvCxnSpPr>
              <p:spPr>
                <a:xfrm flipV="1">
                  <a:off x="4681" y="5624"/>
                  <a:ext cx="1679" cy="299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直接箭头连接符 1113"/>
                <p:cNvCxnSpPr/>
                <p:nvPr/>
              </p:nvCxnSpPr>
              <p:spPr>
                <a:xfrm flipV="1">
                  <a:off x="4681" y="4920"/>
                  <a:ext cx="1679" cy="37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接箭头连接符 1114"/>
                <p:cNvCxnSpPr/>
                <p:nvPr/>
              </p:nvCxnSpPr>
              <p:spPr>
                <a:xfrm flipV="1">
                  <a:off x="4681" y="4440"/>
                  <a:ext cx="1679" cy="4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直接箭头连接符 1115"/>
                <p:cNvCxnSpPr/>
                <p:nvPr/>
              </p:nvCxnSpPr>
              <p:spPr>
                <a:xfrm flipV="1">
                  <a:off x="4801" y="3720"/>
                  <a:ext cx="1559" cy="502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组合 22"/>
              <p:cNvGrpSpPr/>
              <p:nvPr/>
            </p:nvGrpSpPr>
            <p:grpSpPr>
              <a:xfrm>
                <a:off x="8399" y="3528"/>
                <a:ext cx="2444" cy="5522"/>
                <a:chOff x="4320" y="3462"/>
                <a:chExt cx="2444" cy="5522"/>
              </a:xfrm>
            </p:grpSpPr>
            <p:sp>
              <p:nvSpPr>
                <p:cNvPr id="161" name="椭圆 160"/>
                <p:cNvSpPr/>
                <p:nvPr/>
              </p:nvSpPr>
              <p:spPr>
                <a:xfrm>
                  <a:off x="4320" y="408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2" name="椭圆 161"/>
                <p:cNvSpPr/>
                <p:nvPr/>
              </p:nvSpPr>
              <p:spPr>
                <a:xfrm>
                  <a:off x="4320" y="4698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3" name="椭圆 162"/>
                <p:cNvSpPr/>
                <p:nvPr/>
              </p:nvSpPr>
              <p:spPr>
                <a:xfrm>
                  <a:off x="4320" y="346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4" name="椭圆 163"/>
                <p:cNvSpPr/>
                <p:nvPr/>
              </p:nvSpPr>
              <p:spPr>
                <a:xfrm>
                  <a:off x="4320" y="598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5" name="椭圆 164"/>
                <p:cNvSpPr/>
                <p:nvPr/>
              </p:nvSpPr>
              <p:spPr>
                <a:xfrm>
                  <a:off x="4320" y="660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6" name="椭圆 165"/>
                <p:cNvSpPr/>
                <p:nvPr/>
              </p:nvSpPr>
              <p:spPr>
                <a:xfrm>
                  <a:off x="4320" y="536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7" name="椭圆 166"/>
                <p:cNvSpPr/>
                <p:nvPr/>
              </p:nvSpPr>
              <p:spPr>
                <a:xfrm>
                  <a:off x="4320" y="788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8" name="椭圆 167"/>
                <p:cNvSpPr/>
                <p:nvPr/>
              </p:nvSpPr>
              <p:spPr>
                <a:xfrm>
                  <a:off x="4320" y="850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169" name="椭圆 168"/>
                <p:cNvSpPr/>
                <p:nvPr/>
              </p:nvSpPr>
              <p:spPr>
                <a:xfrm>
                  <a:off x="4320" y="7266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grpSp>
              <p:nvGrpSpPr>
                <p:cNvPr id="170" name="组合 169"/>
                <p:cNvGrpSpPr/>
                <p:nvPr/>
              </p:nvGrpSpPr>
              <p:grpSpPr>
                <a:xfrm>
                  <a:off x="6360" y="3498"/>
                  <a:ext cx="404" cy="5486"/>
                  <a:chOff x="6360" y="3498"/>
                  <a:chExt cx="404" cy="5486"/>
                </a:xfrm>
              </p:grpSpPr>
              <p:grpSp>
                <p:nvGrpSpPr>
                  <p:cNvPr id="253" name="组合 252"/>
                  <p:cNvGrpSpPr/>
                  <p:nvPr/>
                </p:nvGrpSpPr>
                <p:grpSpPr>
                  <a:xfrm>
                    <a:off x="6360" y="3498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262" name="椭圆 261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63" name="椭圆 262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64" name="椭圆 263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54" name="组合 253"/>
                  <p:cNvGrpSpPr/>
                  <p:nvPr/>
                </p:nvGrpSpPr>
                <p:grpSpPr>
                  <a:xfrm>
                    <a:off x="6360" y="5400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259" name="椭圆 258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60" name="椭圆 259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61" name="椭圆 260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55" name="组合 254"/>
                  <p:cNvGrpSpPr/>
                  <p:nvPr/>
                </p:nvGrpSpPr>
                <p:grpSpPr>
                  <a:xfrm>
                    <a:off x="6360" y="7302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256" name="椭圆 255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57" name="椭圆 256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258" name="椭圆 257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171" name="直接箭头连接符 1139"/>
                <p:cNvCxnSpPr>
                  <a:stCxn id="163" idx="6"/>
                  <a:endCxn id="264" idx="2"/>
                </p:cNvCxnSpPr>
                <p:nvPr/>
              </p:nvCxnSpPr>
              <p:spPr>
                <a:xfrm>
                  <a:off x="4724" y="368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直接箭头连接符 1140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接箭头连接符 1141"/>
                <p:cNvCxnSpPr>
                  <a:stCxn id="163" idx="6"/>
                  <a:endCxn id="262" idx="2"/>
                </p:cNvCxnSpPr>
                <p:nvPr/>
              </p:nvCxnSpPr>
              <p:spPr>
                <a:xfrm>
                  <a:off x="4724" y="368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接箭头连接符 1142"/>
                <p:cNvCxnSpPr>
                  <a:stCxn id="163" idx="6"/>
                  <a:endCxn id="263" idx="2"/>
                </p:cNvCxnSpPr>
                <p:nvPr/>
              </p:nvCxnSpPr>
              <p:spPr>
                <a:xfrm>
                  <a:off x="4724" y="368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箭头连接符 1143"/>
                <p:cNvCxnSpPr/>
                <p:nvPr/>
              </p:nvCxnSpPr>
              <p:spPr>
                <a:xfrm>
                  <a:off x="4724" y="368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箭头连接符 1144"/>
                <p:cNvCxnSpPr>
                  <a:stCxn id="163" idx="6"/>
                </p:cNvCxnSpPr>
                <p:nvPr/>
              </p:nvCxnSpPr>
              <p:spPr>
                <a:xfrm>
                  <a:off x="4724" y="368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箭头连接符 1145"/>
                <p:cNvCxnSpPr>
                  <a:endCxn id="260" idx="2"/>
                </p:cNvCxnSpPr>
                <p:nvPr/>
              </p:nvCxnSpPr>
              <p:spPr>
                <a:xfrm>
                  <a:off x="4681" y="3600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接箭头连接符 1146"/>
                <p:cNvCxnSpPr>
                  <a:endCxn id="258" idx="2"/>
                </p:cNvCxnSpPr>
                <p:nvPr/>
              </p:nvCxnSpPr>
              <p:spPr>
                <a:xfrm>
                  <a:off x="4681" y="3600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接箭头连接符 1147"/>
                <p:cNvCxnSpPr>
                  <a:endCxn id="256" idx="2"/>
                </p:cNvCxnSpPr>
                <p:nvPr/>
              </p:nvCxnSpPr>
              <p:spPr>
                <a:xfrm>
                  <a:off x="4681" y="3720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接箭头连接符 1148"/>
                <p:cNvCxnSpPr>
                  <a:endCxn id="257" idx="2"/>
                </p:cNvCxnSpPr>
                <p:nvPr/>
              </p:nvCxnSpPr>
              <p:spPr>
                <a:xfrm>
                  <a:off x="4801" y="3720"/>
                  <a:ext cx="1559" cy="504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直接箭头连接符 1149"/>
                <p:cNvCxnSpPr/>
                <p:nvPr/>
              </p:nvCxnSpPr>
              <p:spPr>
                <a:xfrm>
                  <a:off x="4724" y="434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直接箭头连接符 1150"/>
                <p:cNvCxnSpPr/>
                <p:nvPr/>
              </p:nvCxnSpPr>
              <p:spPr>
                <a:xfrm>
                  <a:off x="4724" y="434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直接箭头连接符 1151"/>
                <p:cNvCxnSpPr/>
                <p:nvPr/>
              </p:nvCxnSpPr>
              <p:spPr>
                <a:xfrm>
                  <a:off x="4724" y="434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直接箭头连接符 1152"/>
                <p:cNvCxnSpPr/>
                <p:nvPr/>
              </p:nvCxnSpPr>
              <p:spPr>
                <a:xfrm>
                  <a:off x="4724" y="434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直接箭头连接符 1153"/>
                <p:cNvCxnSpPr/>
                <p:nvPr/>
              </p:nvCxnSpPr>
              <p:spPr>
                <a:xfrm>
                  <a:off x="4724" y="434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直接箭头连接符 1154"/>
                <p:cNvCxnSpPr/>
                <p:nvPr/>
              </p:nvCxnSpPr>
              <p:spPr>
                <a:xfrm>
                  <a:off x="4681" y="425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直接箭头连接符 1155"/>
                <p:cNvCxnSpPr/>
                <p:nvPr/>
              </p:nvCxnSpPr>
              <p:spPr>
                <a:xfrm>
                  <a:off x="4681" y="425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直接箭头连接符 1156"/>
                <p:cNvCxnSpPr/>
                <p:nvPr/>
              </p:nvCxnSpPr>
              <p:spPr>
                <a:xfrm>
                  <a:off x="4681" y="4374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箭头连接符 1157"/>
                <p:cNvCxnSpPr/>
                <p:nvPr/>
              </p:nvCxnSpPr>
              <p:spPr>
                <a:xfrm flipV="1">
                  <a:off x="4801" y="3720"/>
                  <a:ext cx="1559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直接箭头连接符 1158"/>
                <p:cNvCxnSpPr/>
                <p:nvPr/>
              </p:nvCxnSpPr>
              <p:spPr>
                <a:xfrm>
                  <a:off x="4724" y="492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箭头连接符 1159"/>
                <p:cNvCxnSpPr/>
                <p:nvPr/>
              </p:nvCxnSpPr>
              <p:spPr>
                <a:xfrm>
                  <a:off x="4724" y="492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箭头连接符 1160"/>
                <p:cNvCxnSpPr/>
                <p:nvPr/>
              </p:nvCxnSpPr>
              <p:spPr>
                <a:xfrm>
                  <a:off x="4724" y="492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箭头连接符 1161"/>
                <p:cNvCxnSpPr/>
                <p:nvPr/>
              </p:nvCxnSpPr>
              <p:spPr>
                <a:xfrm>
                  <a:off x="4724" y="492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箭头连接符 1162"/>
                <p:cNvCxnSpPr/>
                <p:nvPr/>
              </p:nvCxnSpPr>
              <p:spPr>
                <a:xfrm>
                  <a:off x="4724" y="492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箭头连接符 1163"/>
                <p:cNvCxnSpPr/>
                <p:nvPr/>
              </p:nvCxnSpPr>
              <p:spPr>
                <a:xfrm>
                  <a:off x="4681" y="483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箭头连接符 1164"/>
                <p:cNvCxnSpPr/>
                <p:nvPr/>
              </p:nvCxnSpPr>
              <p:spPr>
                <a:xfrm>
                  <a:off x="4681" y="483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接箭头连接符 1165"/>
                <p:cNvCxnSpPr/>
                <p:nvPr/>
              </p:nvCxnSpPr>
              <p:spPr>
                <a:xfrm flipV="1">
                  <a:off x="4681" y="4320"/>
                  <a:ext cx="1679" cy="6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接箭头连接符 1166"/>
                <p:cNvCxnSpPr/>
                <p:nvPr/>
              </p:nvCxnSpPr>
              <p:spPr>
                <a:xfrm flipV="1">
                  <a:off x="4801" y="3720"/>
                  <a:ext cx="1559" cy="12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接箭头连接符 1167"/>
                <p:cNvCxnSpPr/>
                <p:nvPr/>
              </p:nvCxnSpPr>
              <p:spPr>
                <a:xfrm>
                  <a:off x="4724" y="558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箭头连接符 1168"/>
                <p:cNvCxnSpPr/>
                <p:nvPr/>
              </p:nvCxnSpPr>
              <p:spPr>
                <a:xfrm>
                  <a:off x="4724" y="5588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直接箭头连接符 1169"/>
                <p:cNvCxnSpPr/>
                <p:nvPr/>
              </p:nvCxnSpPr>
              <p:spPr>
                <a:xfrm>
                  <a:off x="4724" y="5588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接箭头连接符 1170"/>
                <p:cNvCxnSpPr/>
                <p:nvPr/>
              </p:nvCxnSpPr>
              <p:spPr>
                <a:xfrm>
                  <a:off x="4724" y="5588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直接箭头连接符 1171"/>
                <p:cNvCxnSpPr/>
                <p:nvPr/>
              </p:nvCxnSpPr>
              <p:spPr>
                <a:xfrm>
                  <a:off x="4724" y="5588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直接箭头连接符 1172"/>
                <p:cNvCxnSpPr/>
                <p:nvPr/>
              </p:nvCxnSpPr>
              <p:spPr>
                <a:xfrm>
                  <a:off x="4681" y="5502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接箭头连接符 1173"/>
                <p:cNvCxnSpPr/>
                <p:nvPr/>
              </p:nvCxnSpPr>
              <p:spPr>
                <a:xfrm flipV="1">
                  <a:off x="4681" y="5040"/>
                  <a:ext cx="1679" cy="46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接箭头连接符 1174"/>
                <p:cNvCxnSpPr/>
                <p:nvPr/>
              </p:nvCxnSpPr>
              <p:spPr>
                <a:xfrm flipV="1">
                  <a:off x="4681" y="4320"/>
                  <a:ext cx="1679" cy="1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接箭头连接符 1175"/>
                <p:cNvCxnSpPr/>
                <p:nvPr/>
              </p:nvCxnSpPr>
              <p:spPr>
                <a:xfrm flipV="1">
                  <a:off x="4801" y="3840"/>
                  <a:ext cx="1559" cy="178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箭头连接符 1176"/>
                <p:cNvCxnSpPr/>
                <p:nvPr/>
              </p:nvCxnSpPr>
              <p:spPr>
                <a:xfrm>
                  <a:off x="4724" y="620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箭头连接符 1177"/>
                <p:cNvCxnSpPr/>
                <p:nvPr/>
              </p:nvCxnSpPr>
              <p:spPr>
                <a:xfrm>
                  <a:off x="4724" y="620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箭头连接符 1178"/>
                <p:cNvCxnSpPr/>
                <p:nvPr/>
              </p:nvCxnSpPr>
              <p:spPr>
                <a:xfrm>
                  <a:off x="4724" y="620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箭头连接符 1179"/>
                <p:cNvCxnSpPr/>
                <p:nvPr/>
              </p:nvCxnSpPr>
              <p:spPr>
                <a:xfrm>
                  <a:off x="4724" y="620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直接箭头连接符 1180"/>
                <p:cNvCxnSpPr/>
                <p:nvPr/>
              </p:nvCxnSpPr>
              <p:spPr>
                <a:xfrm>
                  <a:off x="4724" y="620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接箭头连接符 1181"/>
                <p:cNvCxnSpPr/>
                <p:nvPr/>
              </p:nvCxnSpPr>
              <p:spPr>
                <a:xfrm flipV="1">
                  <a:off x="4681" y="5640"/>
                  <a:ext cx="1679" cy="48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接箭头连接符 1182"/>
                <p:cNvCxnSpPr/>
                <p:nvPr/>
              </p:nvCxnSpPr>
              <p:spPr>
                <a:xfrm flipV="1">
                  <a:off x="4681" y="4920"/>
                  <a:ext cx="1679" cy="12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箭头连接符 1183"/>
                <p:cNvCxnSpPr>
                  <a:endCxn id="262" idx="2"/>
                </p:cNvCxnSpPr>
                <p:nvPr/>
              </p:nvCxnSpPr>
              <p:spPr>
                <a:xfrm flipV="1">
                  <a:off x="4681" y="4340"/>
                  <a:ext cx="1679" cy="19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接箭头连接符 1184"/>
                <p:cNvCxnSpPr/>
                <p:nvPr/>
              </p:nvCxnSpPr>
              <p:spPr>
                <a:xfrm flipV="1">
                  <a:off x="4801" y="3720"/>
                  <a:ext cx="1559" cy="252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接箭头连接符 1185"/>
                <p:cNvCxnSpPr/>
                <p:nvPr/>
              </p:nvCxnSpPr>
              <p:spPr>
                <a:xfrm>
                  <a:off x="4724" y="68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接箭头连接符 1186"/>
                <p:cNvCxnSpPr/>
                <p:nvPr/>
              </p:nvCxnSpPr>
              <p:spPr>
                <a:xfrm>
                  <a:off x="4724" y="68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箭头连接符 1187"/>
                <p:cNvCxnSpPr/>
                <p:nvPr/>
              </p:nvCxnSpPr>
              <p:spPr>
                <a:xfrm>
                  <a:off x="4724" y="689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接箭头连接符 1188"/>
                <p:cNvCxnSpPr/>
                <p:nvPr/>
              </p:nvCxnSpPr>
              <p:spPr>
                <a:xfrm>
                  <a:off x="4724" y="6894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箭头连接符 1189"/>
                <p:cNvCxnSpPr>
                  <a:endCxn id="259" idx="2"/>
                </p:cNvCxnSpPr>
                <p:nvPr/>
              </p:nvCxnSpPr>
              <p:spPr>
                <a:xfrm flipV="1">
                  <a:off x="4724" y="6242"/>
                  <a:ext cx="1636" cy="65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箭头连接符 1190"/>
                <p:cNvCxnSpPr/>
                <p:nvPr/>
              </p:nvCxnSpPr>
              <p:spPr>
                <a:xfrm flipV="1">
                  <a:off x="4681" y="5640"/>
                  <a:ext cx="1679" cy="11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接箭头连接符 1191"/>
                <p:cNvCxnSpPr/>
                <p:nvPr/>
              </p:nvCxnSpPr>
              <p:spPr>
                <a:xfrm flipV="1">
                  <a:off x="4681" y="37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接箭头连接符 1192"/>
                <p:cNvCxnSpPr/>
                <p:nvPr/>
              </p:nvCxnSpPr>
              <p:spPr>
                <a:xfrm flipV="1">
                  <a:off x="4681" y="4320"/>
                  <a:ext cx="1679" cy="26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直接箭头连接符 1193"/>
                <p:cNvCxnSpPr>
                  <a:endCxn id="263" idx="2"/>
                </p:cNvCxnSpPr>
                <p:nvPr/>
              </p:nvCxnSpPr>
              <p:spPr>
                <a:xfrm flipV="1">
                  <a:off x="4801" y="4958"/>
                  <a:ext cx="1559" cy="19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直接箭头连接符 1194"/>
                <p:cNvCxnSpPr/>
                <p:nvPr/>
              </p:nvCxnSpPr>
              <p:spPr>
                <a:xfrm>
                  <a:off x="4724" y="747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箭头连接符 1195"/>
                <p:cNvCxnSpPr/>
                <p:nvPr/>
              </p:nvCxnSpPr>
              <p:spPr>
                <a:xfrm>
                  <a:off x="4724" y="747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箭头连接符 1196"/>
                <p:cNvCxnSpPr/>
                <p:nvPr/>
              </p:nvCxnSpPr>
              <p:spPr>
                <a:xfrm>
                  <a:off x="4724" y="747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箭头连接符 1197"/>
                <p:cNvCxnSpPr/>
                <p:nvPr/>
              </p:nvCxnSpPr>
              <p:spPr>
                <a:xfrm flipV="1">
                  <a:off x="4724" y="6860"/>
                  <a:ext cx="1636" cy="61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箭头连接符 1198"/>
                <p:cNvCxnSpPr/>
                <p:nvPr/>
              </p:nvCxnSpPr>
              <p:spPr>
                <a:xfrm flipV="1">
                  <a:off x="4724" y="6120"/>
                  <a:ext cx="1636" cy="13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直接箭头连接符 1199"/>
                <p:cNvCxnSpPr/>
                <p:nvPr/>
              </p:nvCxnSpPr>
              <p:spPr>
                <a:xfrm flipV="1">
                  <a:off x="4681" y="4920"/>
                  <a:ext cx="1679" cy="24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直接箭头连接符 1200"/>
                <p:cNvCxnSpPr/>
                <p:nvPr/>
              </p:nvCxnSpPr>
              <p:spPr>
                <a:xfrm flipV="1">
                  <a:off x="4681" y="3720"/>
                  <a:ext cx="1679" cy="36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接箭头连接符 1201"/>
                <p:cNvCxnSpPr/>
                <p:nvPr/>
              </p:nvCxnSpPr>
              <p:spPr>
                <a:xfrm flipV="1">
                  <a:off x="4681" y="4440"/>
                  <a:ext cx="1679" cy="30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箭头连接符 1202"/>
                <p:cNvCxnSpPr/>
                <p:nvPr/>
              </p:nvCxnSpPr>
              <p:spPr>
                <a:xfrm flipV="1">
                  <a:off x="4801" y="6240"/>
                  <a:ext cx="1559" cy="12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箭头连接符 1203"/>
                <p:cNvCxnSpPr/>
                <p:nvPr/>
              </p:nvCxnSpPr>
              <p:spPr>
                <a:xfrm>
                  <a:off x="4724" y="80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箭头连接符 1204"/>
                <p:cNvCxnSpPr/>
                <p:nvPr/>
              </p:nvCxnSpPr>
              <p:spPr>
                <a:xfrm>
                  <a:off x="4724" y="80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直接箭头连接符 1205"/>
                <p:cNvCxnSpPr/>
                <p:nvPr/>
              </p:nvCxnSpPr>
              <p:spPr>
                <a:xfrm flipV="1">
                  <a:off x="4724" y="6840"/>
                  <a:ext cx="1636" cy="12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直接箭头连接符 1206"/>
                <p:cNvCxnSpPr/>
                <p:nvPr/>
              </p:nvCxnSpPr>
              <p:spPr>
                <a:xfrm flipV="1">
                  <a:off x="4724" y="6360"/>
                  <a:ext cx="1516" cy="17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直接箭头连接符 1207"/>
                <p:cNvCxnSpPr/>
                <p:nvPr/>
              </p:nvCxnSpPr>
              <p:spPr>
                <a:xfrm flipV="1">
                  <a:off x="4724" y="5624"/>
                  <a:ext cx="1636" cy="24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直接箭头连接符 1208"/>
                <p:cNvCxnSpPr/>
                <p:nvPr/>
              </p:nvCxnSpPr>
              <p:spPr>
                <a:xfrm flipV="1">
                  <a:off x="4681" y="49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直接箭头连接符 1209"/>
                <p:cNvCxnSpPr/>
                <p:nvPr/>
              </p:nvCxnSpPr>
              <p:spPr>
                <a:xfrm flipV="1">
                  <a:off x="4681" y="4800"/>
                  <a:ext cx="1679" cy="32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直接箭头连接符 1210"/>
                <p:cNvCxnSpPr/>
                <p:nvPr/>
              </p:nvCxnSpPr>
              <p:spPr>
                <a:xfrm flipV="1">
                  <a:off x="4681" y="4440"/>
                  <a:ext cx="1679" cy="36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直接箭头连接符 1211"/>
                <p:cNvCxnSpPr/>
                <p:nvPr/>
              </p:nvCxnSpPr>
              <p:spPr>
                <a:xfrm flipV="1">
                  <a:off x="4801" y="3720"/>
                  <a:ext cx="1559" cy="44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直接箭头连接符 1212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直接箭头连接符 1213"/>
                <p:cNvCxnSpPr/>
                <p:nvPr/>
              </p:nvCxnSpPr>
              <p:spPr>
                <a:xfrm flipV="1">
                  <a:off x="4724" y="8279"/>
                  <a:ext cx="1516" cy="429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直接箭头连接符 1214"/>
                <p:cNvCxnSpPr/>
                <p:nvPr/>
              </p:nvCxnSpPr>
              <p:spPr>
                <a:xfrm flipV="1">
                  <a:off x="4724" y="7560"/>
                  <a:ext cx="1636" cy="11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直接箭头连接符 1215"/>
                <p:cNvCxnSpPr/>
                <p:nvPr/>
              </p:nvCxnSpPr>
              <p:spPr>
                <a:xfrm flipV="1">
                  <a:off x="4724" y="6960"/>
                  <a:ext cx="1636" cy="17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直接箭头连接符 1216"/>
                <p:cNvCxnSpPr>
                  <a:endCxn id="259" idx="2"/>
                </p:cNvCxnSpPr>
                <p:nvPr/>
              </p:nvCxnSpPr>
              <p:spPr>
                <a:xfrm flipV="1">
                  <a:off x="4724" y="6242"/>
                  <a:ext cx="1636" cy="246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直接箭头连接符 1217"/>
                <p:cNvCxnSpPr>
                  <a:endCxn id="261" idx="2"/>
                </p:cNvCxnSpPr>
                <p:nvPr/>
              </p:nvCxnSpPr>
              <p:spPr>
                <a:xfrm flipV="1">
                  <a:off x="4681" y="5624"/>
                  <a:ext cx="1679" cy="299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直接箭头连接符 1218"/>
                <p:cNvCxnSpPr/>
                <p:nvPr/>
              </p:nvCxnSpPr>
              <p:spPr>
                <a:xfrm flipV="1">
                  <a:off x="4681" y="4920"/>
                  <a:ext cx="1679" cy="37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直接箭头连接符 1219"/>
                <p:cNvCxnSpPr/>
                <p:nvPr/>
              </p:nvCxnSpPr>
              <p:spPr>
                <a:xfrm flipV="1">
                  <a:off x="4681" y="4440"/>
                  <a:ext cx="1679" cy="4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直接箭头连接符 1220"/>
                <p:cNvCxnSpPr/>
                <p:nvPr/>
              </p:nvCxnSpPr>
              <p:spPr>
                <a:xfrm flipV="1">
                  <a:off x="4801" y="3720"/>
                  <a:ext cx="1559" cy="502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组合 23"/>
              <p:cNvGrpSpPr/>
              <p:nvPr/>
            </p:nvGrpSpPr>
            <p:grpSpPr>
              <a:xfrm>
                <a:off x="10439" y="3542"/>
                <a:ext cx="2444" cy="5522"/>
                <a:chOff x="4320" y="3462"/>
                <a:chExt cx="2444" cy="5522"/>
              </a:xfrm>
            </p:grpSpPr>
            <p:sp>
              <p:nvSpPr>
                <p:cNvPr id="57" name="椭圆 56"/>
                <p:cNvSpPr/>
                <p:nvPr/>
              </p:nvSpPr>
              <p:spPr>
                <a:xfrm>
                  <a:off x="4320" y="408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4320" y="4698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4320" y="346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4320" y="598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4320" y="6600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4320" y="536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4320" y="7884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4320" y="8502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4320" y="7266"/>
                  <a:ext cx="404" cy="447"/>
                </a:xfrm>
                <a:prstGeom prst="ellipse">
                  <a:avLst/>
                </a:prstGeom>
                <a:solidFill>
                  <a:schemeClr val="bg1"/>
                </a:solidFill>
                <a:ln w="0" cmpd="sng">
                  <a:solidFill>
                    <a:schemeClr val="tx1">
                      <a:alpha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/>
                    <a:cs typeface="+mn-cs"/>
                  </a:endParaRPr>
                </a:p>
              </p:txBody>
            </p:sp>
            <p:grpSp>
              <p:nvGrpSpPr>
                <p:cNvPr id="66" name="组合 65"/>
                <p:cNvGrpSpPr/>
                <p:nvPr/>
              </p:nvGrpSpPr>
              <p:grpSpPr>
                <a:xfrm>
                  <a:off x="6360" y="3498"/>
                  <a:ext cx="404" cy="5486"/>
                  <a:chOff x="6360" y="3498"/>
                  <a:chExt cx="404" cy="5486"/>
                </a:xfrm>
              </p:grpSpPr>
              <p:grpSp>
                <p:nvGrpSpPr>
                  <p:cNvPr id="149" name="组合 148"/>
                  <p:cNvGrpSpPr/>
                  <p:nvPr/>
                </p:nvGrpSpPr>
                <p:grpSpPr>
                  <a:xfrm>
                    <a:off x="6360" y="3498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158" name="椭圆 157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9" name="椭圆 158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60" name="椭圆 159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50" name="组合 149"/>
                  <p:cNvGrpSpPr/>
                  <p:nvPr/>
                </p:nvGrpSpPr>
                <p:grpSpPr>
                  <a:xfrm>
                    <a:off x="6360" y="5400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155" name="椭圆 154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6" name="椭圆 155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7" name="椭圆 156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51" name="组合 150"/>
                  <p:cNvGrpSpPr/>
                  <p:nvPr/>
                </p:nvGrpSpPr>
                <p:grpSpPr>
                  <a:xfrm>
                    <a:off x="6360" y="7302"/>
                    <a:ext cx="404" cy="1683"/>
                    <a:chOff x="6720" y="3613"/>
                    <a:chExt cx="1086" cy="4067"/>
                  </a:xfrm>
                </p:grpSpPr>
                <p:sp>
                  <p:nvSpPr>
                    <p:cNvPr id="152" name="椭圆 151"/>
                    <p:cNvSpPr/>
                    <p:nvPr/>
                  </p:nvSpPr>
                  <p:spPr>
                    <a:xfrm>
                      <a:off x="6720" y="5107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3" name="椭圆 152"/>
                    <p:cNvSpPr/>
                    <p:nvPr/>
                  </p:nvSpPr>
                  <p:spPr>
                    <a:xfrm>
                      <a:off x="6720" y="6600"/>
                      <a:ext cx="1087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  <p:sp>
                  <p:nvSpPr>
                    <p:cNvPr id="154" name="椭圆 153"/>
                    <p:cNvSpPr/>
                    <p:nvPr/>
                  </p:nvSpPr>
                  <p:spPr>
                    <a:xfrm>
                      <a:off x="6720" y="3613"/>
                      <a:ext cx="1086" cy="108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0" cmpd="sng">
                      <a:solidFill>
                        <a:schemeClr val="tx1">
                          <a:alpha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等线"/>
                        <a:ea typeface="等线"/>
                        <a:cs typeface="+mn-cs"/>
                      </a:endParaRPr>
                    </a:p>
                  </p:txBody>
                </p:sp>
              </p:grpSp>
            </p:grpSp>
            <p:cxnSp>
              <p:nvCxnSpPr>
                <p:cNvPr id="67" name="直接箭头连接符 1244"/>
                <p:cNvCxnSpPr>
                  <a:stCxn id="59" idx="6"/>
                  <a:endCxn id="160" idx="2"/>
                </p:cNvCxnSpPr>
                <p:nvPr/>
              </p:nvCxnSpPr>
              <p:spPr>
                <a:xfrm>
                  <a:off x="4724" y="368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1245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1246"/>
                <p:cNvCxnSpPr>
                  <a:stCxn id="59" idx="6"/>
                  <a:endCxn id="158" idx="2"/>
                </p:cNvCxnSpPr>
                <p:nvPr/>
              </p:nvCxnSpPr>
              <p:spPr>
                <a:xfrm>
                  <a:off x="4724" y="368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1247"/>
                <p:cNvCxnSpPr>
                  <a:stCxn id="59" idx="6"/>
                  <a:endCxn id="159" idx="2"/>
                </p:cNvCxnSpPr>
                <p:nvPr/>
              </p:nvCxnSpPr>
              <p:spPr>
                <a:xfrm>
                  <a:off x="4724" y="368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1248"/>
                <p:cNvCxnSpPr/>
                <p:nvPr/>
              </p:nvCxnSpPr>
              <p:spPr>
                <a:xfrm>
                  <a:off x="4724" y="368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1249"/>
                <p:cNvCxnSpPr>
                  <a:stCxn id="59" idx="6"/>
                </p:cNvCxnSpPr>
                <p:nvPr/>
              </p:nvCxnSpPr>
              <p:spPr>
                <a:xfrm>
                  <a:off x="4724" y="368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箭头连接符 1250"/>
                <p:cNvCxnSpPr>
                  <a:endCxn id="156" idx="2"/>
                </p:cNvCxnSpPr>
                <p:nvPr/>
              </p:nvCxnSpPr>
              <p:spPr>
                <a:xfrm>
                  <a:off x="4681" y="3600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1251"/>
                <p:cNvCxnSpPr>
                  <a:endCxn id="154" idx="2"/>
                </p:cNvCxnSpPr>
                <p:nvPr/>
              </p:nvCxnSpPr>
              <p:spPr>
                <a:xfrm>
                  <a:off x="4681" y="3600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箭头连接符 1252"/>
                <p:cNvCxnSpPr>
                  <a:endCxn id="152" idx="2"/>
                </p:cNvCxnSpPr>
                <p:nvPr/>
              </p:nvCxnSpPr>
              <p:spPr>
                <a:xfrm>
                  <a:off x="4681" y="3720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箭头连接符 1253"/>
                <p:cNvCxnSpPr>
                  <a:endCxn id="153" idx="2"/>
                </p:cNvCxnSpPr>
                <p:nvPr/>
              </p:nvCxnSpPr>
              <p:spPr>
                <a:xfrm>
                  <a:off x="4801" y="3720"/>
                  <a:ext cx="1559" cy="504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箭头连接符 1254"/>
                <p:cNvCxnSpPr/>
                <p:nvPr/>
              </p:nvCxnSpPr>
              <p:spPr>
                <a:xfrm>
                  <a:off x="4724" y="434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箭头连接符 1255"/>
                <p:cNvCxnSpPr/>
                <p:nvPr/>
              </p:nvCxnSpPr>
              <p:spPr>
                <a:xfrm>
                  <a:off x="4724" y="434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箭头连接符 1256"/>
                <p:cNvCxnSpPr/>
                <p:nvPr/>
              </p:nvCxnSpPr>
              <p:spPr>
                <a:xfrm>
                  <a:off x="4724" y="434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箭头连接符 1257"/>
                <p:cNvCxnSpPr/>
                <p:nvPr/>
              </p:nvCxnSpPr>
              <p:spPr>
                <a:xfrm>
                  <a:off x="4724" y="434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箭头连接符 1258"/>
                <p:cNvCxnSpPr/>
                <p:nvPr/>
              </p:nvCxnSpPr>
              <p:spPr>
                <a:xfrm>
                  <a:off x="4724" y="434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箭头连接符 1259"/>
                <p:cNvCxnSpPr/>
                <p:nvPr/>
              </p:nvCxnSpPr>
              <p:spPr>
                <a:xfrm>
                  <a:off x="4681" y="425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箭头连接符 1260"/>
                <p:cNvCxnSpPr/>
                <p:nvPr/>
              </p:nvCxnSpPr>
              <p:spPr>
                <a:xfrm>
                  <a:off x="4681" y="425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箭头连接符 1261"/>
                <p:cNvCxnSpPr/>
                <p:nvPr/>
              </p:nvCxnSpPr>
              <p:spPr>
                <a:xfrm>
                  <a:off x="4681" y="4374"/>
                  <a:ext cx="1679" cy="442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箭头连接符 1262"/>
                <p:cNvCxnSpPr/>
                <p:nvPr/>
              </p:nvCxnSpPr>
              <p:spPr>
                <a:xfrm flipV="1">
                  <a:off x="4801" y="3720"/>
                  <a:ext cx="1559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箭头连接符 1263"/>
                <p:cNvCxnSpPr/>
                <p:nvPr/>
              </p:nvCxnSpPr>
              <p:spPr>
                <a:xfrm>
                  <a:off x="4724" y="4920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1264"/>
                <p:cNvCxnSpPr/>
                <p:nvPr/>
              </p:nvCxnSpPr>
              <p:spPr>
                <a:xfrm>
                  <a:off x="4724" y="4920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箭头连接符 1265"/>
                <p:cNvCxnSpPr/>
                <p:nvPr/>
              </p:nvCxnSpPr>
              <p:spPr>
                <a:xfrm>
                  <a:off x="4724" y="4920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箭头连接符 1266"/>
                <p:cNvCxnSpPr/>
                <p:nvPr/>
              </p:nvCxnSpPr>
              <p:spPr>
                <a:xfrm>
                  <a:off x="4724" y="4920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箭头连接符 1267"/>
                <p:cNvCxnSpPr/>
                <p:nvPr/>
              </p:nvCxnSpPr>
              <p:spPr>
                <a:xfrm>
                  <a:off x="4724" y="4920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箭头连接符 1268"/>
                <p:cNvCxnSpPr/>
                <p:nvPr/>
              </p:nvCxnSpPr>
              <p:spPr>
                <a:xfrm>
                  <a:off x="4681" y="4834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箭头连接符 1269"/>
                <p:cNvCxnSpPr/>
                <p:nvPr/>
              </p:nvCxnSpPr>
              <p:spPr>
                <a:xfrm>
                  <a:off x="4681" y="4834"/>
                  <a:ext cx="1679" cy="392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箭头连接符 1270"/>
                <p:cNvCxnSpPr/>
                <p:nvPr/>
              </p:nvCxnSpPr>
              <p:spPr>
                <a:xfrm flipV="1">
                  <a:off x="4681" y="4320"/>
                  <a:ext cx="1679" cy="6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箭头连接符 1271"/>
                <p:cNvCxnSpPr/>
                <p:nvPr/>
              </p:nvCxnSpPr>
              <p:spPr>
                <a:xfrm flipV="1">
                  <a:off x="4801" y="3720"/>
                  <a:ext cx="1559" cy="12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箭头连接符 1272"/>
                <p:cNvCxnSpPr/>
                <p:nvPr/>
              </p:nvCxnSpPr>
              <p:spPr>
                <a:xfrm>
                  <a:off x="4724" y="558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箭头连接符 1273"/>
                <p:cNvCxnSpPr/>
                <p:nvPr/>
              </p:nvCxnSpPr>
              <p:spPr>
                <a:xfrm>
                  <a:off x="4724" y="5588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箭头连接符 1274"/>
                <p:cNvCxnSpPr/>
                <p:nvPr/>
              </p:nvCxnSpPr>
              <p:spPr>
                <a:xfrm>
                  <a:off x="4724" y="5588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箭头连接符 1275"/>
                <p:cNvCxnSpPr/>
                <p:nvPr/>
              </p:nvCxnSpPr>
              <p:spPr>
                <a:xfrm>
                  <a:off x="4724" y="5588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箭头连接符 1276"/>
                <p:cNvCxnSpPr/>
                <p:nvPr/>
              </p:nvCxnSpPr>
              <p:spPr>
                <a:xfrm>
                  <a:off x="4724" y="5588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箭头连接符 1277"/>
                <p:cNvCxnSpPr/>
                <p:nvPr/>
              </p:nvCxnSpPr>
              <p:spPr>
                <a:xfrm>
                  <a:off x="4681" y="5502"/>
                  <a:ext cx="1679" cy="326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箭头连接符 1278"/>
                <p:cNvCxnSpPr/>
                <p:nvPr/>
              </p:nvCxnSpPr>
              <p:spPr>
                <a:xfrm flipV="1">
                  <a:off x="4681" y="5040"/>
                  <a:ext cx="1679" cy="46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箭头连接符 1279"/>
                <p:cNvCxnSpPr/>
                <p:nvPr/>
              </p:nvCxnSpPr>
              <p:spPr>
                <a:xfrm flipV="1">
                  <a:off x="4681" y="4320"/>
                  <a:ext cx="1679" cy="1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箭头连接符 1280"/>
                <p:cNvCxnSpPr/>
                <p:nvPr/>
              </p:nvCxnSpPr>
              <p:spPr>
                <a:xfrm flipV="1">
                  <a:off x="4801" y="3840"/>
                  <a:ext cx="1559" cy="178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箭头连接符 1281"/>
                <p:cNvCxnSpPr/>
                <p:nvPr/>
              </p:nvCxnSpPr>
              <p:spPr>
                <a:xfrm>
                  <a:off x="4724" y="6206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箭头连接符 1282"/>
                <p:cNvCxnSpPr/>
                <p:nvPr/>
              </p:nvCxnSpPr>
              <p:spPr>
                <a:xfrm>
                  <a:off x="4724" y="6206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箭头连接符 1283"/>
                <p:cNvCxnSpPr/>
                <p:nvPr/>
              </p:nvCxnSpPr>
              <p:spPr>
                <a:xfrm>
                  <a:off x="4724" y="6206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箭头连接符 1284"/>
                <p:cNvCxnSpPr/>
                <p:nvPr/>
              </p:nvCxnSpPr>
              <p:spPr>
                <a:xfrm>
                  <a:off x="4724" y="6206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箭头连接符 1285"/>
                <p:cNvCxnSpPr/>
                <p:nvPr/>
              </p:nvCxnSpPr>
              <p:spPr>
                <a:xfrm>
                  <a:off x="4724" y="6206"/>
                  <a:ext cx="1636" cy="25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箭头连接符 1286"/>
                <p:cNvCxnSpPr/>
                <p:nvPr/>
              </p:nvCxnSpPr>
              <p:spPr>
                <a:xfrm flipV="1">
                  <a:off x="4681" y="5640"/>
                  <a:ext cx="1679" cy="48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箭头连接符 1287"/>
                <p:cNvCxnSpPr/>
                <p:nvPr/>
              </p:nvCxnSpPr>
              <p:spPr>
                <a:xfrm flipV="1">
                  <a:off x="4681" y="4920"/>
                  <a:ext cx="1679" cy="12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箭头连接符 1288"/>
                <p:cNvCxnSpPr>
                  <a:endCxn id="158" idx="2"/>
                </p:cNvCxnSpPr>
                <p:nvPr/>
              </p:nvCxnSpPr>
              <p:spPr>
                <a:xfrm flipV="1">
                  <a:off x="4681" y="4340"/>
                  <a:ext cx="1679" cy="190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箭头连接符 1289"/>
                <p:cNvCxnSpPr/>
                <p:nvPr/>
              </p:nvCxnSpPr>
              <p:spPr>
                <a:xfrm flipV="1">
                  <a:off x="4801" y="3720"/>
                  <a:ext cx="1559" cy="252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箭头连接符 1290"/>
                <p:cNvCxnSpPr/>
                <p:nvPr/>
              </p:nvCxnSpPr>
              <p:spPr>
                <a:xfrm>
                  <a:off x="4724" y="68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箭头连接符 1291"/>
                <p:cNvCxnSpPr/>
                <p:nvPr/>
              </p:nvCxnSpPr>
              <p:spPr>
                <a:xfrm>
                  <a:off x="4724" y="68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箭头连接符 1292"/>
                <p:cNvCxnSpPr/>
                <p:nvPr/>
              </p:nvCxnSpPr>
              <p:spPr>
                <a:xfrm>
                  <a:off x="4724" y="689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293"/>
                <p:cNvCxnSpPr/>
                <p:nvPr/>
              </p:nvCxnSpPr>
              <p:spPr>
                <a:xfrm>
                  <a:off x="4724" y="6894"/>
                  <a:ext cx="1636" cy="193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箭头连接符 1294"/>
                <p:cNvCxnSpPr>
                  <a:endCxn id="155" idx="2"/>
                </p:cNvCxnSpPr>
                <p:nvPr/>
              </p:nvCxnSpPr>
              <p:spPr>
                <a:xfrm flipV="1">
                  <a:off x="4724" y="6242"/>
                  <a:ext cx="1636" cy="65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箭头连接符 1295"/>
                <p:cNvCxnSpPr/>
                <p:nvPr/>
              </p:nvCxnSpPr>
              <p:spPr>
                <a:xfrm flipV="1">
                  <a:off x="4681" y="5640"/>
                  <a:ext cx="1679" cy="11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箭头连接符 1296"/>
                <p:cNvCxnSpPr/>
                <p:nvPr/>
              </p:nvCxnSpPr>
              <p:spPr>
                <a:xfrm flipV="1">
                  <a:off x="4681" y="37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箭头连接符 1297"/>
                <p:cNvCxnSpPr/>
                <p:nvPr/>
              </p:nvCxnSpPr>
              <p:spPr>
                <a:xfrm flipV="1">
                  <a:off x="4681" y="4320"/>
                  <a:ext cx="1679" cy="26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箭头连接符 1298"/>
                <p:cNvCxnSpPr>
                  <a:endCxn id="159" idx="2"/>
                </p:cNvCxnSpPr>
                <p:nvPr/>
              </p:nvCxnSpPr>
              <p:spPr>
                <a:xfrm flipV="1">
                  <a:off x="4801" y="4958"/>
                  <a:ext cx="1559" cy="19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箭头连接符 1299"/>
                <p:cNvCxnSpPr/>
                <p:nvPr/>
              </p:nvCxnSpPr>
              <p:spPr>
                <a:xfrm>
                  <a:off x="4724" y="747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箭头连接符 1300"/>
                <p:cNvCxnSpPr/>
                <p:nvPr/>
              </p:nvCxnSpPr>
              <p:spPr>
                <a:xfrm>
                  <a:off x="4724" y="747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箭头连接符 1301"/>
                <p:cNvCxnSpPr/>
                <p:nvPr/>
              </p:nvCxnSpPr>
              <p:spPr>
                <a:xfrm>
                  <a:off x="4724" y="7474"/>
                  <a:ext cx="1636" cy="127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箭头连接符 1302"/>
                <p:cNvCxnSpPr/>
                <p:nvPr/>
              </p:nvCxnSpPr>
              <p:spPr>
                <a:xfrm flipV="1">
                  <a:off x="4724" y="6860"/>
                  <a:ext cx="1636" cy="61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箭头连接符 1303"/>
                <p:cNvCxnSpPr/>
                <p:nvPr/>
              </p:nvCxnSpPr>
              <p:spPr>
                <a:xfrm flipV="1">
                  <a:off x="4724" y="6120"/>
                  <a:ext cx="1636" cy="13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箭头连接符 1304"/>
                <p:cNvCxnSpPr/>
                <p:nvPr/>
              </p:nvCxnSpPr>
              <p:spPr>
                <a:xfrm flipV="1">
                  <a:off x="4681" y="4920"/>
                  <a:ext cx="1679" cy="24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箭头连接符 1305"/>
                <p:cNvCxnSpPr/>
                <p:nvPr/>
              </p:nvCxnSpPr>
              <p:spPr>
                <a:xfrm flipV="1">
                  <a:off x="4681" y="3720"/>
                  <a:ext cx="1679" cy="36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箭头连接符 1306"/>
                <p:cNvCxnSpPr/>
                <p:nvPr/>
              </p:nvCxnSpPr>
              <p:spPr>
                <a:xfrm flipV="1">
                  <a:off x="4681" y="4440"/>
                  <a:ext cx="1679" cy="30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箭头连接符 1307"/>
                <p:cNvCxnSpPr/>
                <p:nvPr/>
              </p:nvCxnSpPr>
              <p:spPr>
                <a:xfrm flipV="1">
                  <a:off x="4801" y="6240"/>
                  <a:ext cx="1559" cy="126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箭头连接符 1308"/>
                <p:cNvCxnSpPr/>
                <p:nvPr/>
              </p:nvCxnSpPr>
              <p:spPr>
                <a:xfrm>
                  <a:off x="4724" y="8094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箭头连接符 1309"/>
                <p:cNvCxnSpPr/>
                <p:nvPr/>
              </p:nvCxnSpPr>
              <p:spPr>
                <a:xfrm>
                  <a:off x="4724" y="8094"/>
                  <a:ext cx="1636" cy="6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箭头连接符 1310"/>
                <p:cNvCxnSpPr/>
                <p:nvPr/>
              </p:nvCxnSpPr>
              <p:spPr>
                <a:xfrm flipV="1">
                  <a:off x="4724" y="6840"/>
                  <a:ext cx="1636" cy="125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箭头连接符 1311"/>
                <p:cNvCxnSpPr/>
                <p:nvPr/>
              </p:nvCxnSpPr>
              <p:spPr>
                <a:xfrm flipV="1">
                  <a:off x="4724" y="6360"/>
                  <a:ext cx="1516" cy="1734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箭头连接符 1312"/>
                <p:cNvCxnSpPr/>
                <p:nvPr/>
              </p:nvCxnSpPr>
              <p:spPr>
                <a:xfrm flipV="1">
                  <a:off x="4724" y="5624"/>
                  <a:ext cx="1636" cy="2470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箭头连接符 1313"/>
                <p:cNvCxnSpPr/>
                <p:nvPr/>
              </p:nvCxnSpPr>
              <p:spPr>
                <a:xfrm flipV="1">
                  <a:off x="4681" y="4920"/>
                  <a:ext cx="1679" cy="30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箭头连接符 1314"/>
                <p:cNvCxnSpPr/>
                <p:nvPr/>
              </p:nvCxnSpPr>
              <p:spPr>
                <a:xfrm flipV="1">
                  <a:off x="4681" y="4800"/>
                  <a:ext cx="1679" cy="32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箭头连接符 1315"/>
                <p:cNvCxnSpPr/>
                <p:nvPr/>
              </p:nvCxnSpPr>
              <p:spPr>
                <a:xfrm flipV="1">
                  <a:off x="4681" y="4440"/>
                  <a:ext cx="1679" cy="368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箭头连接符 1316"/>
                <p:cNvCxnSpPr/>
                <p:nvPr/>
              </p:nvCxnSpPr>
              <p:spPr>
                <a:xfrm flipV="1">
                  <a:off x="4801" y="3720"/>
                  <a:ext cx="1559" cy="440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箭头连接符 1317"/>
                <p:cNvCxnSpPr/>
                <p:nvPr/>
              </p:nvCxnSpPr>
              <p:spPr>
                <a:xfrm>
                  <a:off x="4724" y="8708"/>
                  <a:ext cx="1636" cy="3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箭头连接符 1318"/>
                <p:cNvCxnSpPr/>
                <p:nvPr/>
              </p:nvCxnSpPr>
              <p:spPr>
                <a:xfrm flipV="1">
                  <a:off x="4724" y="8279"/>
                  <a:ext cx="1516" cy="429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箭头连接符 1319"/>
                <p:cNvCxnSpPr/>
                <p:nvPr/>
              </p:nvCxnSpPr>
              <p:spPr>
                <a:xfrm flipV="1">
                  <a:off x="4724" y="7560"/>
                  <a:ext cx="1636" cy="11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箭头连接符 1320"/>
                <p:cNvCxnSpPr/>
                <p:nvPr/>
              </p:nvCxnSpPr>
              <p:spPr>
                <a:xfrm flipV="1">
                  <a:off x="4724" y="6960"/>
                  <a:ext cx="1636" cy="174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箭头连接符 1321"/>
                <p:cNvCxnSpPr>
                  <a:endCxn id="155" idx="2"/>
                </p:cNvCxnSpPr>
                <p:nvPr/>
              </p:nvCxnSpPr>
              <p:spPr>
                <a:xfrm flipV="1">
                  <a:off x="4724" y="6242"/>
                  <a:ext cx="1636" cy="2466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箭头连接符 1322"/>
                <p:cNvCxnSpPr>
                  <a:endCxn id="157" idx="2"/>
                </p:cNvCxnSpPr>
                <p:nvPr/>
              </p:nvCxnSpPr>
              <p:spPr>
                <a:xfrm flipV="1">
                  <a:off x="4681" y="5624"/>
                  <a:ext cx="1679" cy="2998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箭头连接符 1323"/>
                <p:cNvCxnSpPr/>
                <p:nvPr/>
              </p:nvCxnSpPr>
              <p:spPr>
                <a:xfrm flipV="1">
                  <a:off x="4681" y="4920"/>
                  <a:ext cx="1679" cy="37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324"/>
                <p:cNvCxnSpPr/>
                <p:nvPr/>
              </p:nvCxnSpPr>
              <p:spPr>
                <a:xfrm flipV="1">
                  <a:off x="4681" y="4440"/>
                  <a:ext cx="1679" cy="430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325"/>
                <p:cNvCxnSpPr/>
                <p:nvPr/>
              </p:nvCxnSpPr>
              <p:spPr>
                <a:xfrm flipV="1">
                  <a:off x="4801" y="3720"/>
                  <a:ext cx="1559" cy="5022"/>
                </a:xfrm>
                <a:prstGeom prst="straightConnector1">
                  <a:avLst/>
                </a:prstGeom>
                <a:ln w="0">
                  <a:solidFill>
                    <a:schemeClr val="tx1">
                      <a:alpha val="7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直接箭头连接符 1326"/>
              <p:cNvCxnSpPr>
                <a:stCxn id="160" idx="6"/>
                <a:endCxn id="20" idx="2"/>
              </p:cNvCxnSpPr>
              <p:nvPr/>
            </p:nvCxnSpPr>
            <p:spPr>
              <a:xfrm>
                <a:off x="12883" y="3802"/>
                <a:ext cx="1589" cy="1942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1327"/>
              <p:cNvCxnSpPr>
                <a:stCxn id="158" idx="5"/>
                <a:endCxn id="20" idx="2"/>
              </p:cNvCxnSpPr>
              <p:nvPr/>
            </p:nvCxnSpPr>
            <p:spPr>
              <a:xfrm>
                <a:off x="12824" y="4578"/>
                <a:ext cx="1648" cy="116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1328"/>
              <p:cNvCxnSpPr>
                <a:stCxn id="159" idx="6"/>
                <a:endCxn id="20" idx="2"/>
              </p:cNvCxnSpPr>
              <p:nvPr/>
            </p:nvCxnSpPr>
            <p:spPr>
              <a:xfrm>
                <a:off x="12883" y="5038"/>
                <a:ext cx="1589" cy="70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1329"/>
              <p:cNvCxnSpPr>
                <a:stCxn id="157" idx="6"/>
                <a:endCxn id="20" idx="2"/>
              </p:cNvCxnSpPr>
              <p:nvPr/>
            </p:nvCxnSpPr>
            <p:spPr>
              <a:xfrm>
                <a:off x="12883" y="5704"/>
                <a:ext cx="1589" cy="4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1330"/>
              <p:cNvCxnSpPr>
                <a:stCxn id="155" idx="6"/>
                <a:endCxn id="20" idx="2"/>
              </p:cNvCxnSpPr>
              <p:nvPr/>
            </p:nvCxnSpPr>
            <p:spPr>
              <a:xfrm flipV="1">
                <a:off x="12883" y="5744"/>
                <a:ext cx="1589" cy="578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1331"/>
              <p:cNvCxnSpPr>
                <a:stCxn id="156" idx="6"/>
                <a:endCxn id="20" idx="2"/>
              </p:cNvCxnSpPr>
              <p:nvPr/>
            </p:nvCxnSpPr>
            <p:spPr>
              <a:xfrm flipV="1">
                <a:off x="12883" y="5744"/>
                <a:ext cx="1589" cy="119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1332"/>
              <p:cNvCxnSpPr>
                <a:stCxn id="154" idx="6"/>
              </p:cNvCxnSpPr>
              <p:nvPr/>
            </p:nvCxnSpPr>
            <p:spPr>
              <a:xfrm flipV="1">
                <a:off x="12883" y="5760"/>
                <a:ext cx="1636" cy="184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1333"/>
              <p:cNvCxnSpPr>
                <a:stCxn id="152" idx="6"/>
                <a:endCxn id="20" idx="2"/>
              </p:cNvCxnSpPr>
              <p:nvPr/>
            </p:nvCxnSpPr>
            <p:spPr>
              <a:xfrm flipV="1">
                <a:off x="12883" y="5744"/>
                <a:ext cx="1589" cy="248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1334"/>
              <p:cNvCxnSpPr>
                <a:stCxn id="153" idx="6"/>
                <a:endCxn id="20" idx="2"/>
              </p:cNvCxnSpPr>
              <p:nvPr/>
            </p:nvCxnSpPr>
            <p:spPr>
              <a:xfrm flipV="1">
                <a:off x="12883" y="5744"/>
                <a:ext cx="1589" cy="3098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" name="椭圆 33"/>
              <p:cNvSpPr/>
              <p:nvPr/>
            </p:nvSpPr>
            <p:spPr>
              <a:xfrm>
                <a:off x="14472" y="6205"/>
                <a:ext cx="404" cy="447"/>
              </a:xfrm>
              <a:prstGeom prst="ellipse">
                <a:avLst/>
              </a:prstGeom>
              <a:solidFill>
                <a:schemeClr val="bg1"/>
              </a:solidFill>
              <a:ln w="0" cmpd="sng">
                <a:solidFill>
                  <a:schemeClr val="tx1">
                    <a:alpha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cxnSp>
            <p:nvCxnSpPr>
              <p:cNvPr id="35" name="直接箭头连接符 1336"/>
              <p:cNvCxnSpPr>
                <a:endCxn id="34" idx="2"/>
              </p:cNvCxnSpPr>
              <p:nvPr/>
            </p:nvCxnSpPr>
            <p:spPr>
              <a:xfrm>
                <a:off x="12883" y="4487"/>
                <a:ext cx="1589" cy="1942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1337"/>
              <p:cNvCxnSpPr>
                <a:endCxn id="34" idx="2"/>
              </p:cNvCxnSpPr>
              <p:nvPr/>
            </p:nvCxnSpPr>
            <p:spPr>
              <a:xfrm>
                <a:off x="12824" y="5263"/>
                <a:ext cx="1648" cy="116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1338"/>
              <p:cNvCxnSpPr>
                <a:endCxn id="34" idx="2"/>
              </p:cNvCxnSpPr>
              <p:nvPr/>
            </p:nvCxnSpPr>
            <p:spPr>
              <a:xfrm>
                <a:off x="12883" y="5723"/>
                <a:ext cx="1589" cy="70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1339"/>
              <p:cNvCxnSpPr>
                <a:endCxn id="34" idx="2"/>
              </p:cNvCxnSpPr>
              <p:nvPr/>
            </p:nvCxnSpPr>
            <p:spPr>
              <a:xfrm>
                <a:off x="12883" y="6389"/>
                <a:ext cx="1589" cy="4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1340"/>
              <p:cNvCxnSpPr>
                <a:endCxn id="34" idx="2"/>
              </p:cNvCxnSpPr>
              <p:nvPr/>
            </p:nvCxnSpPr>
            <p:spPr>
              <a:xfrm flipV="1">
                <a:off x="12883" y="6429"/>
                <a:ext cx="1589" cy="578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1341"/>
              <p:cNvCxnSpPr>
                <a:endCxn id="34" idx="2"/>
              </p:cNvCxnSpPr>
              <p:nvPr/>
            </p:nvCxnSpPr>
            <p:spPr>
              <a:xfrm flipV="1">
                <a:off x="12883" y="6429"/>
                <a:ext cx="1589" cy="119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1342"/>
              <p:cNvCxnSpPr/>
              <p:nvPr/>
            </p:nvCxnSpPr>
            <p:spPr>
              <a:xfrm flipV="1">
                <a:off x="12883" y="6445"/>
                <a:ext cx="1636" cy="184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1343"/>
              <p:cNvCxnSpPr>
                <a:endCxn id="34" idx="2"/>
              </p:cNvCxnSpPr>
              <p:nvPr/>
            </p:nvCxnSpPr>
            <p:spPr>
              <a:xfrm flipV="1">
                <a:off x="12883" y="6429"/>
                <a:ext cx="1589" cy="248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1344"/>
              <p:cNvCxnSpPr>
                <a:stCxn id="160" idx="6"/>
                <a:endCxn id="34" idx="2"/>
              </p:cNvCxnSpPr>
              <p:nvPr/>
            </p:nvCxnSpPr>
            <p:spPr>
              <a:xfrm>
                <a:off x="12883" y="3802"/>
                <a:ext cx="1589" cy="2627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4" name="椭圆 43"/>
              <p:cNvSpPr/>
              <p:nvPr/>
            </p:nvSpPr>
            <p:spPr>
              <a:xfrm>
                <a:off x="14472" y="6802"/>
                <a:ext cx="404" cy="447"/>
              </a:xfrm>
              <a:prstGeom prst="ellipse">
                <a:avLst/>
              </a:prstGeom>
              <a:solidFill>
                <a:schemeClr val="bg1"/>
              </a:solidFill>
              <a:ln w="0" cmpd="sng">
                <a:solidFill>
                  <a:schemeClr val="tx1">
                    <a:alpha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endParaRPr>
              </a:p>
            </p:txBody>
          </p:sp>
          <p:cxnSp>
            <p:nvCxnSpPr>
              <p:cNvPr id="45" name="直接箭头连接符 1346"/>
              <p:cNvCxnSpPr>
                <a:endCxn id="44" idx="2"/>
              </p:cNvCxnSpPr>
              <p:nvPr/>
            </p:nvCxnSpPr>
            <p:spPr>
              <a:xfrm>
                <a:off x="12883" y="5084"/>
                <a:ext cx="1589" cy="1942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1347"/>
              <p:cNvCxnSpPr>
                <a:endCxn id="44" idx="2"/>
              </p:cNvCxnSpPr>
              <p:nvPr/>
            </p:nvCxnSpPr>
            <p:spPr>
              <a:xfrm>
                <a:off x="12824" y="5860"/>
                <a:ext cx="1648" cy="116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1348"/>
              <p:cNvCxnSpPr>
                <a:endCxn id="44" idx="2"/>
              </p:cNvCxnSpPr>
              <p:nvPr/>
            </p:nvCxnSpPr>
            <p:spPr>
              <a:xfrm>
                <a:off x="12883" y="6320"/>
                <a:ext cx="1589" cy="70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1349"/>
              <p:cNvCxnSpPr>
                <a:endCxn id="44" idx="2"/>
              </p:cNvCxnSpPr>
              <p:nvPr/>
            </p:nvCxnSpPr>
            <p:spPr>
              <a:xfrm>
                <a:off x="12883" y="6986"/>
                <a:ext cx="1589" cy="40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1350"/>
              <p:cNvCxnSpPr>
                <a:endCxn id="44" idx="2"/>
              </p:cNvCxnSpPr>
              <p:nvPr/>
            </p:nvCxnSpPr>
            <p:spPr>
              <a:xfrm flipV="1">
                <a:off x="12883" y="7026"/>
                <a:ext cx="1589" cy="578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1351"/>
              <p:cNvCxnSpPr>
                <a:endCxn id="44" idx="2"/>
              </p:cNvCxnSpPr>
              <p:nvPr/>
            </p:nvCxnSpPr>
            <p:spPr>
              <a:xfrm flipV="1">
                <a:off x="12883" y="7026"/>
                <a:ext cx="1589" cy="119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1352"/>
              <p:cNvCxnSpPr/>
              <p:nvPr/>
            </p:nvCxnSpPr>
            <p:spPr>
              <a:xfrm flipV="1">
                <a:off x="12883" y="7042"/>
                <a:ext cx="1636" cy="184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1353"/>
              <p:cNvCxnSpPr>
                <a:stCxn id="158" idx="6"/>
                <a:endCxn id="44" idx="2"/>
              </p:cNvCxnSpPr>
              <p:nvPr/>
            </p:nvCxnSpPr>
            <p:spPr>
              <a:xfrm>
                <a:off x="12883" y="4420"/>
                <a:ext cx="1589" cy="2606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1354"/>
              <p:cNvCxnSpPr>
                <a:stCxn id="160" idx="6"/>
                <a:endCxn id="44" idx="2"/>
              </p:cNvCxnSpPr>
              <p:nvPr/>
            </p:nvCxnSpPr>
            <p:spPr>
              <a:xfrm>
                <a:off x="12883" y="3802"/>
                <a:ext cx="1589" cy="3224"/>
              </a:xfrm>
              <a:prstGeom prst="straightConnector1">
                <a:avLst/>
              </a:prstGeom>
              <a:ln w="0">
                <a:solidFill>
                  <a:schemeClr val="tx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1355"/>
              <p:cNvCxnSpPr>
                <a:stCxn id="20" idx="6"/>
              </p:cNvCxnSpPr>
              <p:nvPr/>
            </p:nvCxnSpPr>
            <p:spPr>
              <a:xfrm>
                <a:off x="14876" y="5744"/>
                <a:ext cx="963" cy="16"/>
              </a:xfrm>
              <a:prstGeom prst="straightConnector1">
                <a:avLst/>
              </a:prstGeom>
              <a:ln w="0">
                <a:solidFill>
                  <a:schemeClr val="accent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1356"/>
              <p:cNvCxnSpPr/>
              <p:nvPr/>
            </p:nvCxnSpPr>
            <p:spPr>
              <a:xfrm>
                <a:off x="14879" y="6449"/>
                <a:ext cx="963" cy="16"/>
              </a:xfrm>
              <a:prstGeom prst="straightConnector1">
                <a:avLst/>
              </a:prstGeom>
              <a:ln w="0">
                <a:solidFill>
                  <a:schemeClr val="accent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1357"/>
              <p:cNvCxnSpPr/>
              <p:nvPr/>
            </p:nvCxnSpPr>
            <p:spPr>
              <a:xfrm>
                <a:off x="14879" y="7015"/>
                <a:ext cx="963" cy="16"/>
              </a:xfrm>
              <a:prstGeom prst="straightConnector1">
                <a:avLst/>
              </a:prstGeom>
              <a:ln w="0">
                <a:solidFill>
                  <a:schemeClr val="accent1">
                    <a:alpha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53" name="矩形 452"/>
            <p:cNvSpPr/>
            <p:nvPr/>
          </p:nvSpPr>
          <p:spPr>
            <a:xfrm>
              <a:off x="10026374" y="2727132"/>
              <a:ext cx="697627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6C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猫</a:t>
              </a:r>
            </a:p>
          </p:txBody>
        </p:sp>
      </p:grpSp>
      <p:grpSp>
        <p:nvGrpSpPr>
          <p:cNvPr id="458" name="组合 457"/>
          <p:cNvGrpSpPr/>
          <p:nvPr/>
        </p:nvGrpSpPr>
        <p:grpSpPr>
          <a:xfrm>
            <a:off x="1961284" y="5636220"/>
            <a:ext cx="8269432" cy="584775"/>
            <a:chOff x="1779071" y="5636220"/>
            <a:chExt cx="8269432" cy="584775"/>
          </a:xfrm>
        </p:grpSpPr>
        <p:sp>
          <p:nvSpPr>
            <p:cNvPr id="16" name="文本框 15"/>
            <p:cNvSpPr txBox="1"/>
            <p:nvPr/>
          </p:nvSpPr>
          <p:spPr>
            <a:xfrm>
              <a:off x="4415071" y="5759330"/>
              <a:ext cx="56334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 panose="020B0503020204020204" pitchFamily="34" charset="-122"/>
                  <a:cs typeface="Times New Roman" panose="02020503050405090304" pitchFamily="18" charset="0"/>
                </a:rPr>
                <a:t>如何引导模型自主学习高判别性特征？</a:t>
              </a:r>
            </a:p>
          </p:txBody>
        </p:sp>
        <p:sp>
          <p:nvSpPr>
            <p:cNvPr id="456" name="矩形 455"/>
            <p:cNvSpPr/>
            <p:nvPr/>
          </p:nvSpPr>
          <p:spPr>
            <a:xfrm>
              <a:off x="1779071" y="5636220"/>
              <a:ext cx="182614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深度学习</a:t>
              </a:r>
            </a:p>
          </p:txBody>
        </p:sp>
        <p:sp>
          <p:nvSpPr>
            <p:cNvPr id="457" name="右箭头 456"/>
            <p:cNvSpPr/>
            <p:nvPr/>
          </p:nvSpPr>
          <p:spPr>
            <a:xfrm>
              <a:off x="3792969" y="5731400"/>
              <a:ext cx="470330" cy="4895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8277" y="1083770"/>
            <a:ext cx="12000598" cy="721279"/>
            <a:chOff x="108277" y="1083770"/>
            <a:chExt cx="12000598" cy="721279"/>
          </a:xfrm>
        </p:grpSpPr>
        <p:sp>
          <p:nvSpPr>
            <p:cNvPr id="452" name="文本框 451"/>
            <p:cNvSpPr txBox="1"/>
            <p:nvPr/>
          </p:nvSpPr>
          <p:spPr>
            <a:xfrm>
              <a:off x="133430" y="1083770"/>
              <a:ext cx="11975445" cy="581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深度学习是机器学习的重要分支，通过</a:t>
              </a:r>
              <a:r>
                <a:rPr kumimoji="0" lang="zh-CN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构建多层神经网络模拟人类大脑处理信息的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过程</a:t>
              </a:r>
              <a:r>
                <a:rPr kumimoji="0" lang="zh-CN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。 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8277" y="1083770"/>
              <a:ext cx="11975446" cy="721279"/>
            </a:xfrm>
            <a:prstGeom prst="rect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132</Words>
  <Application>Microsoft Office PowerPoint</Application>
  <PresentationFormat>宽屏</PresentationFormat>
  <Paragraphs>39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等线</vt:lpstr>
      <vt:lpstr>等线 Light</vt:lpstr>
      <vt:lpstr>思源黑体 Bold</vt:lpstr>
      <vt:lpstr>微软雅黑</vt:lpstr>
      <vt:lpstr>Arial</vt:lpstr>
      <vt:lpstr>Cambria Math</vt:lpstr>
      <vt:lpstr>Garamond</vt:lpstr>
      <vt:lpstr>Times New Roman</vt:lpstr>
      <vt:lpstr>环保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晨婧 王</dc:creator>
  <cp:lastModifiedBy>晨婧 王</cp:lastModifiedBy>
  <cp:revision>3</cp:revision>
  <dcterms:created xsi:type="dcterms:W3CDTF">2025-11-04T15:09:45Z</dcterms:created>
  <dcterms:modified xsi:type="dcterms:W3CDTF">2025-12-20T08:43:32Z</dcterms:modified>
</cp:coreProperties>
</file>